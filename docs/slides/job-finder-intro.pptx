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開場" id="{419bafc8-daa2-a56c-9504-d32f5fe4d0eb}">
          <p14:sldIdLst>
            <p14:sldId id="256"/>
            <p14:sldId id="257"/>
            <p14:sldId id="258"/>
          </p14:sldIdLst>
        </p14:section>
        <p14:section name="01 系統怎麼運作" id="{f8a73536-5e97-6c18-d293-32db15df6a17}">
          <p14:sldIdLst>
            <p14:sldId id="259"/>
            <p14:sldId id="260"/>
            <p14:sldId id="261"/>
            <p14:sldId id="262"/>
            <p14:sldId id="263"/>
          </p14:sldIdLst>
        </p14:section>
        <p14:section name="02 四個工程判斷" id="{1360b6ce-11e9-19f3-5250-9ea8051196d1}">
          <p14:sldIdLst>
            <p14:sldId id="264"/>
            <p14:sldId id="265"/>
            <p14:sldId id="266"/>
            <p14:sldId id="267"/>
            <p14:sldId id="268"/>
          </p14:sldIdLst>
        </p14:section>
        <p14:section name="03 可靠性與合規" id="{90ca57c0-d841-43b0-16cc-d68f1497a22d}">
          <p14:sldIdLst>
            <p14:sldId id="269"/>
            <p14:sldId id="270"/>
            <p14:sldId id="271"/>
            <p14:sldId id="272"/>
          </p14:sldIdLst>
        </p14:section>
        <p14:section name="04 我怎麼跟 AI 協作" id="{cca8caf9-d2e3-7bad-ce2f-d702d1a2bdc6}">
          <p14:sldIdLst>
            <p14:sldId id="273"/>
            <p14:sldId id="274"/>
            <p14:sldId id="275"/>
          </p14:sldIdLst>
        </p14:section>
        <p14:section name="結語" id="{d46394a5-5dbd-5b14-dbff-cfedae047c0d}">
          <p14:sldIdLst>
            <p14:sldId id="276"/>
          </p14:sldIdLst>
        </p14:section>
        <p14:section name="附錄:技術細節" id="{94b3677e-dba6-27da-25d5-65dfb3666711}">
          <p14:sldIdLst>
            <p14:sldId id="277"/>
            <p14:sldId id="278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4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A4A"/>
                </a:solidFill>
                <a:latin typeface="+mn-lt"/>
              </a:rPr>
              <a:t>09-23 改版後 24 次執行(職缺數)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職缺數</c:v>
                </c:pt>
              </c:strCache>
            </c:strRef>
          </c:tx>
          <c:spPr>
            <a:solidFill>
              <a:srgbClr val="1E7F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421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新職缺</c:v>
                  </c:pt>
                  <c:pt idx="1">
                    <c:v>通過規則層</c:v>
                  </c:pt>
                  <c:pt idx="2">
                    <c:v>LLM 深評</c:v>
                  </c:pt>
                  <c:pt idx="3">
                    <c:v>推播到手機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1481</c:v>
                </c:pt>
                <c:pt idx="1">
                  <c:v>442</c:v>
                </c:pt>
                <c:pt idx="2">
                  <c:v>186</c:v>
                </c:pt>
                <c:pt idx="3">
                  <c:v>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1421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421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【講稿】
大家好，我是林芳義。今天想用一個我自己每天都在用的系統，說明我怎麼做資料工程：它每天早上 8 點自動到 104 抓職缺、清洗、過濾，用 LLM 對照我的履歷評分，最後只把值得投的推到我的手機。
【對 HR 的一句話】
這是我為了自己求職做的工具，2026-08-22 上線，到 10-25 已有 46 次實際連線執行（橫跨 45 天），不是課堂作業。
【對技術主管的一句話】
重點不只是「會串 LLM」，而是：對外部資料源負責的護欄、未公開 API 的資料契約，以及「先量測、再下結論」的工程判斷。
【這頁的概念】
資料管線（data pipeline）：資料從來源出發，依序經過擷取（extract）→ 轉換（transform）→ 載入/輸出（load）的固定流程，每一段的輸入輸出都定義清楚，可以單獨測試、單獨重跑。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【講稿】
先給結論：這個系統跑了 46 次真的連線 104 的執行，累計看過 2,623 筆不重複職缺。改版後，新職缺只有 4.7% 會被推到我手機上；評分用的 LLM 實付費用 1.28 美元。
【數字口徑（被問到時要能答）】
- 46 次：runs 表裡 status 為 success/partial 且 requests_used &gt; 0。離線重播與測試不算。
- 2,623 筆 / 1,490 家：jobs 表 count(*) 與 count(DISTINCT cust_no)。
- 4.7%：09-23 加上產業/規模規則層之後的 24 次執行，新職缺 1,481 → 推播 70。全期（含改版前）是 210/2,688 ≈ 7.8%。
- US$1.28:runs.llm_cost_usd 加總，是粗篩 + 深評的 OpenRouter 實付。10-06 起評分改用 Claude 訂閱，不另計費。
- 不含命中率（hitrate）：它仍走 OpenRouter，成本另存 hitrate.db，目前留存的 719 筆合計約 US$1.12（改 prompt 時清過舊結果，所以這是下限）。
【概念】
「只計實際連線」是刻意的：離線重播（--replay）會重跑評分但不連 104，混進來會讓請求數、耗時都失真。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【講稿】
每次搜尋會撈回約 350 筆職缺，其中第一次出現的中位數是 43 筆（大日子可到 238 筆），但我的方向很窄：資料工程、半導體或金融的大公司。人工逐筆看，我估計一天要花一小時。現在整個流程中位數約 4 分鐘，而且不用我在場。
【誠實註記】
「每天 1 小時」是我自評的手動基準，不是量測值。面試被問就照實說。
「4 分鐘」大半是刻意的等待：每個請求之間至少間隔 3 秒，這是為了不給 104 添負擔，不是效能不足。
【概念：為什麼關鍵字撈回不相關的】
104 的關鍵字搜尋是全文模糊比對，JD 裡只要出現「資料工程」四個字就會被撈回來，所以搜「資料工程師」也會撈回 AI 研發工程師。這是後面「工程判斷 1」的伏筆。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【轉場】先看整條管線長什麼樣，再看每一段怎麼把職缺量從上千筆收斂到個位數。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【講稿】
由左到右：排程觸發後，先過三道護欄才會發出任何請求；抓回來的資料正規化、去重，只留今天新出現的；接著規則層用產業代碼和員工數先砍掉大半；剩下的才交給 LLM，先批次粗篩、再逐筆深評；最後推播到 Telegram。
【技術細節（給技術主管）】
- ports.py 定義 JobSource / Scorer / Notifier 三個 Protocol;pipeline.py 是唯一的流程編排；對外 IO(104、LLM、Telegram)全靠注入，本機資料庫則由流程直接讀寫。這是「依賴反轉」：高層流程依賴抽象介面，不依賴具體實作。
- normalize.py 是唯一認識 104 JSON 結構的地方。對方改版時只要改一個檔案，而且 drift 會被偵測、記錄，不會悄悄算錯。
- 三道護欄：緊急開關（kill switch）、熔斷器（circuit breaker）、每日一次（同一天不會重複推播，所以錯過開機補跑是安全的）。
【概念：為什麼 UI 不能直接開 jobs.db】
pipeline 結束時用 os.replace 把整個 jobs.db 換掉。Windows 上檔案被其他程式開著時，替換會失敗，當天資料和熔斷器狀態就會靜靜遺失。所以 UI 一律先複製快照再讀（docs/adr/0001）。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【講稿】
這是 9 月 23 日加上產業/規模規則層之後的 24 次執行。1,481 筆新職缺，規則層就先擋掉 1,039 筆（70%），剩 442 筆；LLM 深評 186 筆，最後推播 70 筆，平均一天不到 3 則。
【技術細節】
- 規則層放在 LLM 之前，是成本結構決定的：規則判斷是免費的，LLM 要錢、詳細頁要對 104 發請求（每次最多 18 個詳細頁）。
- 粗篩批次：履歷約 800 token，是每次呼叫的固定成本。15 筆一起送，攤到每筆只剩約 60 token。這是設計時的估算，不是量測值（scoring/stage1.py 開頭註解）。代價是模型偶爾漏回幾筆 —— 程式會比對、缺的補跑；補跑仍漏的保留進深評，不會悄悄丟掉。
- 粗分低於 45 不進深評（config.yaml rough_threshold）。
【概念：fail-open vs fail-closed】
如果 104 哪天不給員工數欄位，「缺資料就擋掉」(fail-closed)會讓日報靜靜變成 0 則，跟「今天沒新職缺」長得一樣。所以某欄位在整批缺超過一半時，停用該條件並大聲告警（targeting.py MISSING_RATIO_LIMIT = 0.5）。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【講稿】
LLM 給五個維度的分數和一個定性判斷，但「數字」和「最後的取捨」都在程式端。原則是：模型擅長讀文字下判斷，不擅長算數、也不穩定，所以不能讓它決定結果。
【技術細節】
- 五維配分寫在 scoring/prompts.py；三道校正在 scoring/rules.py 的 apply_rules()。
- 定性交叉驗證：總分 ≥ threshold(60)但 verdict 是 skip/maybe → 降到 59。現在是 top_n 模式（下限 50），所以它影響的是排序，不是直接擋下。
- 年資：senior_years_cutoff = 5、senior_exp_fit_cap = 8(config.yaml)。年資優先讀 104 列表的 period 欄位換算（period 是「年資 + 1」，0 = 不拘），比對中文跑正規表達式可靠得多。
- verdict 用 JSON schema 的 enum 限定（strong_apply / apply / maybe / skip）。沒有限制時，便宜模型會自己發明 worth_a_shot 之類的值，實測 22 筆有 9 筆。
- 不合法的 verdict 回 None 而不是 maybe:maybe 是負面訊號會觸發降級，但「模型沒照格式寫」不代表它覺得職缺不好。曾因此讓一個 75 分的職缺被誤降到消失。
- 「待遇面議」給中間值：台灣多數職缺不揭露薪資，拿它扣分等於懲罰大部分職缺。
【概念：為什麼不信任模型的數字】
LLM 生成的是「看起來合理的文字」，加總、比大小這種確定性運算交給程式，結果才可重現、可測試。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【講稿】
推播只是提醒，真正的決策在每週一。這個本機介面把每筆職缺放進三道閘門，我標「投 / 不投 / 待確認」；選「不投」一定要寫原因，這些原因之後拿來檢討閘門規則對不對。
【技術細節】
- Streamlit 只綁 127.0.0.1（cli.py 啟動參數），因為資料庫裡是真實求職資料。
- 邊界由測試守住：webui/ 不得 import 抓取、pipeline、storage、httpx(tests/test_webui_boundary.py)。UI 有按鈕能觸發抓取 = 繞過預算、節流、熔斷三道護欄。
- 「閘門」和「規則層」是兩回事：規則層（≥500 人 + 產業）決定哪些值得花 LLM；閘門（≥30 人、不限產業）是我挑職缺的條件，在 UI 端對全部職缺計算。合併的話會改變每天的 LLM 成本。
- 第 3 道「必備命中率」是獨立的 LLM 呼叫，結果存 hitrate.db，以 （職缺， 履歷雜湊） 為鍵 —— 改履歷就自動失效重算。
【概念：ADR】
Architecture Decision Record，一份短文件記錄「當時為什麼這樣決定、考慮過哪些替代方案」。這個專案的 ADR 0001 記錄標記為什麼存在獨立資料庫。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【轉場】接下來四個例子，共同點是：直覺的做法都是錯的，是實際量測之後才找到真正的問題。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【講稿】
直覺做法是「換關鍵字」，我換了，沒用。查證後發現 104 的關鍵字是全文比對，不是職稱比對。我也試過 104 自己的職務類別代碼，看起來是完美解法，但驗證後發現雇主亂掛：最好的玉山 Data &amp; AI Platform 被掛成「雲端工程師」，反而 AI 研發工程師被掛成「資料工程師」。硬篩會殺掉最好的、留下不要的，剛好做反。
最後改用產業代碼：公司屬於哪個產業，雇主沒有理由亂填。
【技術細節】
- coIndustry 是階層式代碼，例如 1001006 半導體業、1004 金融投顧及保險。比對代碼前綴、不比對中文名稱 —— 104 改名稱時代碼不會變。
- config.py 拒絕在 industry_prefixes 填中文：填錯不會報錯、只會默默把職缺濾光，所以直接拒絕啟動。
- 員工數 0 代表「暫不提供」不是 0 人（鴻海、華碩都填 0），產業對就放行。這是 10-10 修正的，之前誤擋了 26 筆。
【為什麼過濾不放在 104 的搜尋參數】
搜尋請求數 = 關鍵字 × 頁數，跟有沒有帶產業參數無關。在 104 端過濾省不到任何請求，卻要為一個沒驗證過的參數多打 104。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【講稿】
用 LLM 分數當門檻之前，我先量了雜訊：同一份資料、同一個 prompt 跑兩次，當天最好的職缺一次 80、一次 88。而我原本的門檻正好是 80。這代表最好的職缺會隨機消失，而且我不會發現。
所以改成「當天前 5 名」：雜訊只影響排序。另外設一個遠低於雜訊帶的下限，只用來擋職缺荒日子的垃圾。
【技術細節】
- config.yaml:scoring.mode = top_n、top_n = 5、top_n_floor = 50。threshold(60)仍保留，給卡片的分數燈號用。
- 10-06 起改用 Claude 評分。405 筆配對後，Claude 平均比 Gemini 低 18.3 分，所以門檻依 Claude 口徑重校（80→60、下限 60→50）。這提醒我：分數是「某個模型的口徑」，換模型就要重校，不能沿用舊的分數區間推論。
- Claude 自身的重跑差異，10 筆兩次平均差 4.5 分；但量法跟 Gemini 的 ±8 不同，我不把兩者寫成數字對比。
【概念：measurement noise】
任何量測都有雜訊。決策門檻如果落在雜訊帶內，決策結果就是隨機的。正確做法是先量雜訊大小，再決定用絕對門檻、相對排序，或拉開門檻與雜訊的距離。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【講稿】
「履歷命中幾成必備條件」這件事，一開始讓 LLM 給平均。有一筆算出 88%，我自己判斷只有約 61%，差距就在一條核心條件：它要求的 AWS 資料服務，我沒有實作經驗（我用過的是 SageMaker、Bedrock 這類，不是資料服務）。平均數把這個缺口稀釋掉了。
所以改成：LLM 只逐條判定並附證據，百分比由程式算；每筆最多標 2 條核心條件，只要有一條不是「完全符合」就不通過。
【技術細節】
- 實作在 hitrate/（獨立指令 jobfinder hitrate），結果存 hitrate.db。
- 部分符合給 0.5；加分條件不進分母。
- 改 prompt 會讓數字位移（同一筆 83% → 75%），所以改完要重跑驗證、考慮清掉舊結果。
- 那筆實例是華碩 8vyka（README 與 CLAUDE.md 有記錄）。簡報上刻意不寫公司名。
【概念：aggregation hides outliers】
平均、加總這類聚合會抹平極端值。如果某個條件是「缺了就不行」（硬性條件），就不能跟其他條件一起平均，要單獨當成否決條件處理。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【講稿】
原本計畫部署到雲端。實測：家裡的 IP 完全暢通；雲端資料中心的 IP 被 Cloudflare 擋下要求驗證；改用真實瀏覽器反而被升級成要人工操作的驗證。所以原因是 IP 信譽，不是技術手法。瀏覽器那次測試是為了診斷原因；確認是 IP 信譽後，我沒有去繞過它，而是改成本機排程。
【技術細節：三種回應的分辨（CLAUDE.md）】
- 403 + body 空 → 104 origin 的 Referer 白名單：我方設定錯。
- 403 + cf-mitigated: challenge → Cloudflare 依 IP 信譽出的挑戰。
- 429 / 503 → 速率限制。
只能靠看回應本身分辨，所以寫了一個只發「一個請求」的診斷指令，把完整回應印出來。
【這個專案錯判過兩次，方向還相反】
1. 最初：「API 有 Cloudflare，必須用真實瀏覽器」—— 測試管道設不了 Referer 又從資料中心出去，兩個因素混在一起。
2. 更正：「104 沒有 Cloudflare，只有 Referer 白名單」—— 只在家用 IP 驗證過就推論成通則。
正確理解：兩件事同時為真。信譽夠的 IP 會遇到 Referer 白名單；信譽不夠的 IP 在那之前就被 Cloudflare 攔下。
【概念：控制變因】
一次只改一個變因。第一次錯判就是兩個變因（Referer、IP 來源）同時不同，卻歸因給其中一個。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【轉場】這一段是我最在意的部分：一個會對外發請求的自動化系統，先要確保它不會出事。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【講稿】
這個系統的規則有一個明確的優先順序：104 帳號 &gt; 家裡的 IP &gt; 雲端 IP &gt; 功能完整度。衝突時一律犧牲後面的。寧可少抓職缺，也不冒險。右邊是落實這個順序的五條護欄。
【技術細節（都有程式強制，不靠自律）】
- 不登入：config.py 的禁用欄位清單含 password；設定了就拒絕啟動。
- RequestBudget.acquire()(scrape/budget.py)：順序是「黑名單 → 預算 → 強制節流 → 計數」，而且先計數再放行 —— 就算請求接著拋例外，封包已經送出，也必須算進預算。
- 硬上限（config.py 開頭常數）：每關鍵字 ≤3 頁、詳細頁 ≤25、總導覽 ≤40、間隔下限 3 秒。目前設定比上限更保守（2 頁、18 個詳細頁）。
- 路徑黑名單（scrape/urls.py）：應徵、收藏、追蹤公司這類「登入使用者才會做的動作」一律擋；robots.txt 禁用的查詢參數也擋。
- user_agent 必須誠實標示，含 Mozilla 字樣（偽裝成瀏覽器）會拒絕啟動。
【概念：為什麼「不重試」】
被暫時挑戰時重試，是把「暫時被挑戰」變成「永久封 IP」的頭號原因。對外部系統，正確的反應是停下來、等、讓人來判斷。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【講稿】
同樣是 HTTP 403，意義可能完全相反。回應是空的，代表我方的 Referer 設定掉了，這時候冷卻一天毫無幫助，應該告警請人修；出現驗證頁才是真的被擋，要立刻停並熔斷。如果不分，不是誤熔斷浪費一天，就是被擋了還繼續打。
【技術細節】
- 熔斷冷卻：第 1 次 24 小時、第 2 次 72 小時、第 3 次起無限期，要人工 jobfinder reset-circuit(scrape/blocking.py)。
- 冷卻時間有下限 24 小時（config.py HARD_MIN_COOLDOWN_HOURS），只能往長調。
- 瀏覽器模式讀 body 可能失敗，所以 403 在那條路徑上一律 fail-closed（當成被擋）—— 不確定的時候選安全的那邊。
- 網路斷線（DNS 還沒好）另外處理：NetworkUnavailable，不熔斷、記 failed、不佔當天額度（10-13 修正）。
【概念：circuit breaker】
熔斷器源自電路保險絲：偵測到異常就「跳開」，一段時間內拒絕所有新請求，避免持續對已經出問題的下游施壓。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【講稿】
護欄沒有測試就等於沒有護欄。674 個測試全部離線，用的是 8 月錄下來的真實 104 回應，所以開發時完全不用連 104。另外 commit 和 push 前各有一層祕密掃描，避免金鑰外流。
【技術細節】
- fixture：真實 API 回應錄成 JSON 檔；開發用 --from-fixtures 或 --replay，完全不碰 104。
- 護欄的測試在 tests/test_guardrails.py、tests/test_http_source.py。
- pre-commit(scripts/check_secrets.py --staged)：金鑰格式、.env 裡的實際值、.env / *.db 路徑。
- pre-push(--history)：掃整個 commit 歷史 —— 因為 commit 階段可以用 --no-verify 跳過，但推上遠端就收不回來了。
【概念：regression test】
每修一個 bug，就寫一個會在 bug 重現時失敗的測試。這樣同一個錯不會第二次發生，而且規則的「理由」會跟著測試留在 repo 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【轉場】最後談工作方式。這個專案的程式碼大部分由 AI 撰寫，所以我想說明我在其中負責什麼。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【講稿】
100 多個 commit 裡，超過九成標了 Claude Code 共同作者，這點我不避諱。AI 每開一個新 session 對專案的記憶都是零，所以「什麼算對」必須寫進 repo：規格、禁止事項、踩過的坑。寫在文件裡的規則 AI 可能漏看，所以重要的會再用程式擋一次。而有三件事我不交給 AI：風險順序、評分判準、金鑰。
【技術細節】
- .claude/hooks/guard.py:AI 每次要執行指令或讀檔前先過這支腳本，三類操作直接擋下並回傳理由：modal deploy、沒帶 --limit 的真實連線、讀 .env。
- 金鑰只存在本機 .env（在 .gitignore），repo 裡只有列變數名稱的 .env.example。
【可能被問】
Q：那你自己會寫程式嗎?
A：（依你的實際狀況回答）建議重點放在：我讀得懂、審得了每一段改動，也能指出它錯在哪 —— 例如 period 欄位是「年資 + 1」這個錯，是我在 UI 上發現卡片寫「2年以上」、104 頁面寫「1年以上」對不上，再用 369 筆詳細頁驗證出來的。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【講稿】
我一開始的流程很「重」：先讓 AI 追問我需求、寫完規格和實作計畫，才開始寫程式。用了一陣子發現兩個問題：一是慢，二是計畫越細，裡面沒驗證過的推測越多，而推測一旦寫進計畫和測試就被當成事實。
後來借用 Scrum 的精神，但不照搬角色和會議：每一輪只做一小段能跑的，看到真實結果再決定下一步。
【兩個真實例子】
1. Cloudflare 錯判兩次（見判斷 4）。第一次讓整套瀏覽器抓取程式被寫了出來，第二次讓我以為可以直接上雲端。
2. 104 列表的 period 欄位被當成「實際年數」寫進文件，實際上是「年資 + 1」。錯了一個月，日報上每筆職缺都多算一年。是我在 UI 上發現跟 104 頁面對不上，再拿 369 筆詳細頁的 workExp 驗證才確定。
【三個原則】
- 驗證過的事實可以寫死，還沒實測的先保持彈性。
- 遇到「是不是被擋了」這類問題，先發一個請求把完整回應印出來看。
- 不要矯枉過正：CLAUDE.md 的絕對禁止事項就是驗收標準，是最不能退讓的部分。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【講稿】
最後總結我能帶進團隊的四件事：資料工程的基本功、對可靠性的重視、實際落地過的 LLM 應用，以及「先量測再下結論」的工作方式。謝謝，歡迎提問。
【依對象調整】
- HR：強調「真實每天在用」「自己發現問題、自己量測、自己修正」「對外部系統負責的態度」。
- 技術主管：可以直接跳到附錄，聊 104 API 的資料契約、RequestBudget 的設計、或模組邊界。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附錄不一定要講，給技術主管追問時翻出來，也給自己複習用。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【講稿】
這頁是「資料契約」：對方沒有公開文件的 API，每個欄位的意義都要自己驗證。這幾個都是踩過才知道的。
【技術細節】
- 領域模型把 jobNo（去重主鍵）和 detail_id（打 API 用）分成兩個欄位。
- period 用 normalize.period_to_years() 換算。驗證方法：369 筆詳細頁的 workExp 文字逐筆對照：0→不拘 266 筆、2→1 年以上 59 筆、3→2 年以上 41 筆。
- 搜尋回應的 data 本身就是陣列（沒有 data.list）；description 不是完整 JD（中位數 123 字），所以詳細頁還是得抓。
- 打錯 ID 時 API 回 {"error": {"code": 11201, ...}}，記成 drift 而不是讓程式 crash。
【概念：schema drift】
外部資料源的格式會在不通知你的情況下改變。對策是把「認識外部格式」集中在一個模組，並在格式不符時記錄、告警，而不是默默產生錯誤的資料。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【講稿】
HTTP 模式和瀏覽器模式共用同一個守門員，所以多一條抓取路徑也不會繞過護欄。
【技術細節】
- 順序：assert_path_allowed(url) → 預算檢查（不夠丟 BudgetExhausted，呼叫端停止抓取但正常收尾）→ _throttle(delay) → 計數。
- 先計數再放行：即使接下來的請求拋例外，封包已經送出，必須算進預算；少算會讓實際請求量超出上限。
- 節流分三種：分頁之間 3–5 秒、關鍵字之間 5–9 秒、詳細頁之間 4–8 秒（config.yaml）。
- 每天剩下沒用完的詳細頁名額，會依序給「投遞清單」和「補深評佇列」—— 不多發任何請求。
【概念：單一入口（choke point）】
把所有對外請求收斂到一個函式，護欄只要寫一次、測一次；新增功能時只要確認它有呼叫這個入口。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【講稿】
這個切法讓「抓取方式整個換掉」變成換一個實作的事：從瀏覽器改成純 HTTP 時，pipeline、storage、scoring、notify 一行都沒改。
【技術細節】
- Protocol 是 Python 的結構化型別（structural typing）：實作不必繼承，只要方法簽名對得上就符合介面。測試時注入 Fake，完全離線。
- 離線開發的兩個入口：--from-fixtures（錄好的真實回應）、--replay &lt;RUN_ID&gt;（拿舊 raw JSON 重跑評分，調 prompt 用）。
- Telegram 用 HTML 不用 MarkdownV2：後者要跳脫 18 個字元，職缺標題滿是括號與連字號，漏一個整則 400。
【概念：ports and adapters（六角架構）】
核心邏輯只依賴「port」（介面），外部世界（104、LLM、Telegram）透過「adapter」（實作）接進來。好處：核心可測、外部可換。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【講稿】
10 月初把評分從 Gemini 換成 Claude 訂閱。重點不是換模型本身，而是換模型時要做的事：先小規模實測、保留舊分數做配對比較、依新口徑重校門檻。
【技術細節】
- claude -p 必須清掉 ANTHROPIC_API_KEY（否則走 API 計費）、在空目錄執行、--tools "" 與 --strict-mcp-config（否則專案設定會塞進每次評分）。
- 不開 --effort low:structured output 會被反覆打回重交，實測一筆失敗、成本沒省。
- scores.model 記錄真正用到的模型（例如 claude-cli:sonnet），這樣才分得出哪些分數是哪個口徑。
- 10-09 校準時發現：Claude 分數分不出 3/4/5 星的想去程度（現況請自行確認） —— 下一步是提升評分的鑑別力，而不是再調門檻。
【概念：sticky fallback】
失敗後在同一次執行裡不再嘗試主要供應商。避免每一筆都先失敗一次再退回，浪費時間，也避免同一批結果混雜兩種口徑。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這頁是給自己的備忘：每個數字被追問時，要能說出它從哪裡來、口徑是什麼、有什麼限制。
重算方式見 docs/resume-metrics.md 的「重算方式」段落（以唯讀模式開 jobs.db）。
資料庫最後更新：local_data/jobs.db 2026-10-25 15:43。之後要更新簡報數字，重跑那段查詢即可。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4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173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017520"/>
            <a:ext cx="10698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14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514600"/>
            <a:ext cx="106984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104 職缺日報 · 林芳義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E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173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把求職變成一條每天自動跑的資料管線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0175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104 職缺日報 · 抓取 → 清洗 → 過濾 → LLM 評分 → 推播</a:t>
            </a:r>
            <a:endParaRPr lang="en-US" sz="2000" dirty="0"/>
          </a:p>
        </p:txBody>
      </p:sp>
      <p:sp>
        <p:nvSpPr>
          <p:cNvPr id="4" name="pipeline-line"/>
          <p:cNvSpPr/>
          <p:nvPr/>
        </p:nvSpPr>
        <p:spPr>
          <a:xfrm>
            <a:off x="1014984" y="4535424"/>
            <a:ext cx="4800600" cy="0"/>
          </a:xfrm>
          <a:prstGeom prst="line">
            <a:avLst/>
          </a:prstGeom>
          <a:noFill/>
          <a:ln w="25400">
            <a:solidFill>
              <a:srgbClr val="3D5A6C"/>
            </a:solidFill>
            <a:prstDash val="solid"/>
          </a:ln>
        </p:spPr>
      </p:sp>
      <p:sp>
        <p:nvSpPr>
          <p:cNvPr id="5" name="icon-bg-cover-0"/>
          <p:cNvSpPr/>
          <p:nvPr/>
        </p:nvSpPr>
        <p:spPr>
          <a:xfrm>
            <a:off x="731520" y="425196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cover-0" descr="cover-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4393692"/>
            <a:ext cx="283464" cy="283464"/>
          </a:xfrm>
          <a:prstGeom prst="rect">
            <a:avLst/>
          </a:prstGeom>
        </p:spPr>
      </p:pic>
      <p:sp>
        <p:nvSpPr>
          <p:cNvPr id="7" name="icon-bg-cover-1"/>
          <p:cNvSpPr/>
          <p:nvPr/>
        </p:nvSpPr>
        <p:spPr>
          <a:xfrm>
            <a:off x="1691640" y="425196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con-cover-1" descr="cover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372" y="4393692"/>
            <a:ext cx="283464" cy="283464"/>
          </a:xfrm>
          <a:prstGeom prst="rect">
            <a:avLst/>
          </a:prstGeom>
        </p:spPr>
      </p:pic>
      <p:sp>
        <p:nvSpPr>
          <p:cNvPr id="9" name="icon-bg-cover-2"/>
          <p:cNvSpPr/>
          <p:nvPr/>
        </p:nvSpPr>
        <p:spPr>
          <a:xfrm>
            <a:off x="2651760" y="425196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-cover-2" descr="cover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3492" y="4393692"/>
            <a:ext cx="283464" cy="283464"/>
          </a:xfrm>
          <a:prstGeom prst="rect">
            <a:avLst/>
          </a:prstGeom>
        </p:spPr>
      </p:pic>
      <p:sp>
        <p:nvSpPr>
          <p:cNvPr id="11" name="icon-bg-cover-3"/>
          <p:cNvSpPr/>
          <p:nvPr/>
        </p:nvSpPr>
        <p:spPr>
          <a:xfrm>
            <a:off x="3611880" y="425196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-cover-3" descr="cover-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3612" y="4393692"/>
            <a:ext cx="283464" cy="283464"/>
          </a:xfrm>
          <a:prstGeom prst="rect">
            <a:avLst/>
          </a:prstGeom>
        </p:spPr>
      </p:pic>
      <p:sp>
        <p:nvSpPr>
          <p:cNvPr id="13" name="icon-bg-cover-4"/>
          <p:cNvSpPr/>
          <p:nvPr/>
        </p:nvSpPr>
        <p:spPr>
          <a:xfrm>
            <a:off x="4572000" y="425196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-cover-4" descr="cover-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3732" y="4393692"/>
            <a:ext cx="283464" cy="283464"/>
          </a:xfrm>
          <a:prstGeom prst="rect">
            <a:avLst/>
          </a:prstGeom>
        </p:spPr>
      </p:pic>
      <p:sp>
        <p:nvSpPr>
          <p:cNvPr id="15" name="icon-bg-cover-5"/>
          <p:cNvSpPr/>
          <p:nvPr/>
        </p:nvSpPr>
        <p:spPr>
          <a:xfrm>
            <a:off x="5532120" y="425196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icon-cover-5" descr="cover-5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3852" y="4393692"/>
            <a:ext cx="283464" cy="283464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rgbClr val="B7C6CE"/>
                </a:solidFill>
              </a:rPr>
              <a:t>林芳義 Fang-Yi Lin · 資料工程・流程自動化 · github.com/yiyiscode</a:t>
            </a:r>
            <a:endParaRPr lang="zh-TW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一句話：每天 08:00，自動幫我挑出值得投的職缺</a:t>
            </a:r>
            <a:endParaRPr lang="en-US" sz="3000" dirty="0"/>
          </a:p>
        </p:txBody>
      </p:sp>
      <p:sp>
        <p:nvSpPr>
          <p:cNvPr id="3" name="stat-0"/>
          <p:cNvSpPr/>
          <p:nvPr/>
        </p:nvSpPr>
        <p:spPr>
          <a:xfrm>
            <a:off x="548640" y="160020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9202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TW" altLang="en-US" sz="4000" b="1" dirty="0">
                <a:solidFill>
                  <a:schemeClr val="accent1"/>
                </a:solidFill>
              </a:rPr>
              <a:t>46 次</a:t>
            </a:r>
            <a:endParaRPr lang="zh-TW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880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實際連線 104 執行</a:t>
            </a:r>
            <a:endParaRPr lang="zh-TW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37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2026-08-22 ~ 10-25</a:t>
            </a:r>
            <a:endParaRPr lang="zh-TW" sz="1200" dirty="0"/>
          </a:p>
        </p:txBody>
      </p:sp>
      <p:sp>
        <p:nvSpPr>
          <p:cNvPr id="7" name="stat-1"/>
          <p:cNvSpPr/>
          <p:nvPr/>
        </p:nvSpPr>
        <p:spPr>
          <a:xfrm>
            <a:off x="3383280" y="160020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11880" y="19202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TW" altLang="en-US" sz="4000" b="1" dirty="0">
                <a:solidFill>
                  <a:schemeClr val="accent1"/>
                </a:solidFill>
              </a:rPr>
              <a:t>2,623 筆</a:t>
            </a:r>
            <a:endParaRPr lang="zh-TW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880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累計不重複職缺</a:t>
            </a:r>
            <a:endParaRPr lang="zh-TW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3337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來自 1,490 家公司</a:t>
            </a:r>
            <a:endParaRPr lang="zh-TW" sz="1200" dirty="0"/>
          </a:p>
        </p:txBody>
      </p:sp>
      <p:sp>
        <p:nvSpPr>
          <p:cNvPr id="11" name="stat-2"/>
          <p:cNvSpPr/>
          <p:nvPr/>
        </p:nvSpPr>
        <p:spPr>
          <a:xfrm>
            <a:off x="6217920" y="160020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19202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TW" altLang="en-US" sz="4000" b="1" dirty="0">
                <a:solidFill>
                  <a:schemeClr val="accent2"/>
                </a:solidFill>
              </a:rPr>
              <a:t>4.7%</a:t>
            </a:r>
            <a:endParaRPr lang="zh-TW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880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最後推播的比例</a:t>
            </a:r>
            <a:endParaRPr lang="zh-TW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3337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09-23 改版後 24 次執行</a:t>
            </a:r>
            <a:endParaRPr lang="zh-TW" sz="1200" dirty="0"/>
          </a:p>
        </p:txBody>
      </p:sp>
      <p:sp>
        <p:nvSpPr>
          <p:cNvPr id="15" name="stat-3"/>
          <p:cNvSpPr/>
          <p:nvPr/>
        </p:nvSpPr>
        <p:spPr>
          <a:xfrm>
            <a:off x="9052560" y="160020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81160" y="19202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TW" altLang="en-US" sz="4000" b="1" dirty="0">
                <a:solidFill>
                  <a:schemeClr val="accent1"/>
                </a:solidFill>
              </a:rPr>
              <a:t>US$1.28</a:t>
            </a:r>
            <a:endParaRPr lang="zh-TW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2880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評分的 LLM 實付費用</a:t>
            </a:r>
            <a:endParaRPr lang="zh-TW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3337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命中率另計；10-06 起改用 Claude</a:t>
            </a:r>
            <a:endParaRPr lang="zh-TW" sz="1200" dirty="0"/>
          </a:p>
        </p:txBody>
      </p:sp>
      <p:sp>
        <p:nvSpPr>
          <p:cNvPr id="19" name="icon-bg-real"/>
          <p:cNvSpPr/>
          <p:nvPr/>
        </p:nvSpPr>
        <p:spPr>
          <a:xfrm>
            <a:off x="548640" y="4434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-real" descr="r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0"/>
            <a:ext cx="274320" cy="27432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325880" y="440740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真實上線運作，不是 demo。</a:t>
            </a:r>
            <a:endParaRPr lang="zh-TW" sz="1600" dirty="0"/>
          </a:p>
          <a:p>
            <a:pPr indent="0" marL="0">
              <a:buNone/>
            </a:pPr>
            <a:r>
              <a:rPr lang="zh-TW" altLang="en-US" sz="1600" dirty="0">
                <a:solidFill>
                  <a:schemeClr val="accent6"/>
                </a:solidFill>
              </a:rPr>
              <a:t>Windows 排程每天 08:00 觸發、錯過開機補跑；674 個離線測試守住每一道護欄。</a:t>
            </a:r>
            <a:endParaRPr lang="zh-TW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100" i="1" dirty="0">
                <a:solidFill>
                  <a:schemeClr val="accent6"/>
                </a:solidFill>
              </a:rPr>
              <a:t>資料：local_data/jobs.db 的 runs 表，只計 requests_used &gt; 0 的實際連線執行（截至 2026-10-25 15:39 那一次）</a:t>
            </a:r>
            <a:endParaRPr lang="zh-TW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E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問題：職缺一直冒出來，大部分跟我的方向無關</a:t>
            </a:r>
            <a:endParaRPr lang="en-US" sz="3000" dirty="0"/>
          </a:p>
        </p:txBody>
      </p:sp>
      <p:sp>
        <p:nvSpPr>
          <p:cNvPr id="3" name="before"/>
          <p:cNvSpPr/>
          <p:nvPr/>
        </p:nvSpPr>
        <p:spPr>
          <a:xfrm>
            <a:off x="548640" y="1463040"/>
            <a:ext cx="498348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4" name="icon-bg-before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5" name="icon-before" descr="befo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8973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81051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200" b="1" dirty="0">
                <a:solidFill>
                  <a:schemeClr val="tx1"/>
                </a:solidFill>
              </a:rPr>
              <a:t>以前：人工</a:t>
            </a:r>
            <a:endParaRPr lang="zh-TW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651760"/>
            <a:ext cx="4343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zh-TW" altLang="en-US" sz="1600" dirty="0">
                <a:solidFill>
                  <a:schemeClr val="tx1"/>
                </a:solidFill>
              </a:rPr>
              <a:t>每次搜回約 350 筆，逐筆看列表與 JD</a:t>
            </a:r>
            <a:endParaRPr lang="zh-TW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zh-TW" altLang="en-US" sz="1600" dirty="0">
                <a:solidFill>
                  <a:schemeClr val="tx1"/>
                </a:solidFill>
              </a:rPr>
              <a:t>每天約 1 小時（自己估計的基準）</a:t>
            </a:r>
            <a:endParaRPr lang="zh-TW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zh-TW" altLang="en-US" sz="1600" dirty="0">
                <a:solidFill>
                  <a:schemeClr val="tx1"/>
                </a:solidFill>
              </a:rPr>
              <a:t>關鍵字是全文比對，撈回大量不相關職缺</a:t>
            </a:r>
            <a:endParaRPr lang="zh-TW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zh-TW" altLang="en-US" sz="1600" dirty="0">
                <a:solidFill>
                  <a:schemeClr val="tx1"/>
                </a:solidFill>
              </a:rPr>
              <a:t>好職缺混在雜訊裡，容易漏看</a:t>
            </a:r>
            <a:endParaRPr lang="zh-TW" sz="1600" dirty="0"/>
          </a:p>
        </p:txBody>
      </p:sp>
      <p:sp>
        <p:nvSpPr>
          <p:cNvPr id="8" name="arrow"/>
          <p:cNvSpPr/>
          <p:nvPr/>
        </p:nvSpPr>
        <p:spPr>
          <a:xfrm>
            <a:off x="5733288" y="2788920"/>
            <a:ext cx="685800" cy="54864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9" name="after"/>
          <p:cNvSpPr/>
          <p:nvPr/>
        </p:nvSpPr>
        <p:spPr>
          <a:xfrm>
            <a:off x="6629400" y="1463040"/>
            <a:ext cx="4983480" cy="3200400"/>
          </a:xfrm>
          <a:prstGeom prst="roundRect">
            <a:avLst>
              <a:gd name="adj" fmla="val 2286"/>
            </a:avLst>
          </a:prstGeom>
          <a:solidFill>
            <a:schemeClr val="accent5"/>
          </a:solidFill>
          <a:ln/>
        </p:spPr>
      </p:sp>
      <p:sp>
        <p:nvSpPr>
          <p:cNvPr id="10" name="icon-bg-after"/>
          <p:cNvSpPr/>
          <p:nvPr/>
        </p:nvSpPr>
        <p:spPr>
          <a:xfrm>
            <a:off x="6903720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-after" descr="af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3740" y="18973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726680" y="181051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200" b="1" dirty="0">
                <a:solidFill>
                  <a:schemeClr val="tx1"/>
                </a:solidFill>
              </a:rPr>
              <a:t>現在：自動</a:t>
            </a:r>
            <a:endParaRPr lang="zh-TW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949440" y="2651760"/>
            <a:ext cx="4343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zh-TW" altLang="en-US" sz="1600" dirty="0">
                <a:solidFill>
                  <a:schemeClr val="tx1"/>
                </a:solidFill>
              </a:rPr>
              <a:t>08:00 自動執行，錯過開機後補跑</a:t>
            </a:r>
            <a:endParaRPr lang="zh-TW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zh-TW" altLang="en-US" sz="1600" dirty="0">
                <a:solidFill>
                  <a:schemeClr val="tx1"/>
                </a:solidFill>
              </a:rPr>
              <a:t>全流程中位數約 4 分鐘（含刻意的節流等待）</a:t>
            </a:r>
            <a:endParaRPr lang="zh-TW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zh-TW" altLang="en-US" sz="1600" dirty="0">
                <a:solidFill>
                  <a:schemeClr val="tx1"/>
                </a:solidFill>
              </a:rPr>
              <a:t>產業代碼 + 員工數先過濾，LLM 只看值得看的</a:t>
            </a:r>
            <a:endParaRPr lang="zh-TW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zh-TW" altLang="en-US" sz="1600" dirty="0">
                <a:solidFill>
                  <a:schemeClr val="tx1"/>
                </a:solidFill>
              </a:rPr>
              <a:t>手機只收到當天前 5 名，附評分理由</a:t>
            </a:r>
            <a:endParaRPr lang="zh-TW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100" i="1" dirty="0">
                <a:solidFill>
                  <a:schemeClr val="accent6"/>
                </a:solidFill>
              </a:rPr>
              <a:t>350 筆：每次執行跨關鍵字去重後的中位數（10-09 前 35 次，docs/resume-metrics.md）；4 分鐘：runs 表 started_at → finished_at 中位數 243 秒</a:t>
            </a:r>
            <a:endParaRPr lang="zh-TW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E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200" b="1" dirty="0">
                <a:solidFill>
                  <a:schemeClr val="accent2"/>
                </a:solidFill>
              </a:rPr>
              <a:t>01</a:t>
            </a:r>
            <a:endParaRPr lang="zh-TW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5146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系統怎麼運作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118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一條單向的資料管線，加上一個做決策用的本機介面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架構：護欄排在所有請求之前，每一段都可以單獨換掉</a:t>
            </a:r>
            <a:endParaRPr lang="en-US" sz="3000" dirty="0"/>
          </a:p>
        </p:txBody>
      </p:sp>
      <p:sp>
        <p:nvSpPr>
          <p:cNvPr id="3" name="flow-line"/>
          <p:cNvSpPr/>
          <p:nvPr/>
        </p:nvSpPr>
        <p:spPr>
          <a:xfrm>
            <a:off x="1074420" y="1988820"/>
            <a:ext cx="9601200" cy="0"/>
          </a:xfrm>
          <a:prstGeom prst="line">
            <a:avLst/>
          </a:prstGeom>
          <a:noFill/>
          <a:ln w="25400">
            <a:solidFill>
              <a:srgbClr val="6C8EA0"/>
            </a:solidFill>
            <a:prstDash val="solid"/>
            <a:tailEnd type="triangle"/>
          </a:ln>
        </p:spPr>
      </p:sp>
      <p:sp>
        <p:nvSpPr>
          <p:cNvPr id="4" name="icon-bg-flow-0"/>
          <p:cNvSpPr/>
          <p:nvPr/>
        </p:nvSpPr>
        <p:spPr>
          <a:xfrm>
            <a:off x="685800" y="16002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flow-0" descr="flow-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179451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42900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排程</a:t>
            </a:r>
            <a:endParaRPr lang="zh-TW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342900" y="28803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每天 08:00</a:t>
            </a:r>
            <a:endParaRPr lang="zh-TW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錯過開機補跑</a:t>
            </a:r>
            <a:endParaRPr lang="zh-TW" sz="1200" dirty="0"/>
          </a:p>
        </p:txBody>
      </p:sp>
      <p:sp>
        <p:nvSpPr>
          <p:cNvPr id="8" name="icon-bg-flow-1"/>
          <p:cNvSpPr/>
          <p:nvPr/>
        </p:nvSpPr>
        <p:spPr>
          <a:xfrm>
            <a:off x="2286000" y="160020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" name="icon-flow-1" descr="flow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310" y="1794510"/>
            <a:ext cx="388620" cy="3886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943100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三道護欄</a:t>
            </a:r>
            <a:endParaRPr lang="zh-TW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943100" y="28803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緊急開關</a:t>
            </a:r>
            <a:endParaRPr lang="zh-TW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熔斷器・每日一次</a:t>
            </a:r>
            <a:endParaRPr lang="zh-TW" sz="1200" dirty="0"/>
          </a:p>
        </p:txBody>
      </p:sp>
      <p:sp>
        <p:nvSpPr>
          <p:cNvPr id="12" name="icon-bg-flow-2"/>
          <p:cNvSpPr/>
          <p:nvPr/>
        </p:nvSpPr>
        <p:spPr>
          <a:xfrm>
            <a:off x="3886200" y="16002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-flow-2" descr="flow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0510" y="1794510"/>
            <a:ext cx="388620" cy="3886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543300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抓取</a:t>
            </a:r>
            <a:endParaRPr lang="zh-TW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3543300" y="28803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逐筆送出</a:t>
            </a:r>
            <a:endParaRPr lang="zh-TW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節流 + 預算上限</a:t>
            </a:r>
            <a:endParaRPr lang="zh-TW" sz="1200" dirty="0"/>
          </a:p>
        </p:txBody>
      </p:sp>
      <p:sp>
        <p:nvSpPr>
          <p:cNvPr id="16" name="icon-bg-flow-3"/>
          <p:cNvSpPr/>
          <p:nvPr/>
        </p:nvSpPr>
        <p:spPr>
          <a:xfrm>
            <a:off x="5486400" y="16002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-flow-3" descr="flow-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0710" y="1794510"/>
            <a:ext cx="388620" cy="3886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143500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正規化・去重</a:t>
            </a:r>
            <a:endParaRPr lang="zh-TW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5143500" y="28803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SQLite</a:t>
            </a:r>
            <a:endParaRPr lang="zh-TW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只留今天新的</a:t>
            </a:r>
            <a:endParaRPr lang="zh-TW" sz="1200" dirty="0"/>
          </a:p>
        </p:txBody>
      </p:sp>
      <p:sp>
        <p:nvSpPr>
          <p:cNvPr id="20" name="icon-bg-flow-4"/>
          <p:cNvSpPr/>
          <p:nvPr/>
        </p:nvSpPr>
        <p:spPr>
          <a:xfrm>
            <a:off x="7086600" y="16002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con-flow-4" descr="flow-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0910" y="1794510"/>
            <a:ext cx="388620" cy="3886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743700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規則層</a:t>
            </a:r>
            <a:endParaRPr lang="zh-TW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6743700" y="28803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產業代碼</a:t>
            </a:r>
            <a:endParaRPr lang="zh-TW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+ 員工數 ≥500</a:t>
            </a:r>
            <a:endParaRPr lang="zh-TW" sz="1200" dirty="0"/>
          </a:p>
        </p:txBody>
      </p:sp>
      <p:sp>
        <p:nvSpPr>
          <p:cNvPr id="24" name="icon-bg-flow-5"/>
          <p:cNvSpPr/>
          <p:nvPr/>
        </p:nvSpPr>
        <p:spPr>
          <a:xfrm>
            <a:off x="8686800" y="16002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con-flow-5" descr="flow-5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1110" y="1794510"/>
            <a:ext cx="388620" cy="38862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343900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LLM 評分</a:t>
            </a:r>
            <a:endParaRPr lang="zh-TW" sz="1500" dirty="0"/>
          </a:p>
        </p:txBody>
      </p:sp>
      <p:sp>
        <p:nvSpPr>
          <p:cNvPr id="27" name="Text 19"/>
          <p:cNvSpPr txBox="1"/>
          <p:nvPr/>
        </p:nvSpPr>
        <p:spPr>
          <a:xfrm>
            <a:off x="8343900" y="28803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粗篩 15 筆一批</a:t>
            </a:r>
            <a:endParaRPr lang="zh-TW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深評逐筆讀 JD</a:t>
            </a:r>
            <a:endParaRPr lang="zh-TW" sz="1200" dirty="0"/>
          </a:p>
        </p:txBody>
      </p:sp>
      <p:sp>
        <p:nvSpPr>
          <p:cNvPr id="28" name="icon-bg-flow-6"/>
          <p:cNvSpPr/>
          <p:nvPr/>
        </p:nvSpPr>
        <p:spPr>
          <a:xfrm>
            <a:off x="10287000" y="160020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9" name="icon-flow-6" descr="flow-6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81310" y="1794510"/>
            <a:ext cx="388620" cy="38862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9944100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推播</a:t>
            </a:r>
            <a:endParaRPr lang="zh-TW" sz="1500" dirty="0"/>
          </a:p>
        </p:txBody>
      </p:sp>
      <p:sp>
        <p:nvSpPr>
          <p:cNvPr id="31" name="Text 22"/>
          <p:cNvSpPr txBox="1"/>
          <p:nvPr/>
        </p:nvSpPr>
        <p:spPr>
          <a:xfrm>
            <a:off x="9944100" y="28803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Telegram</a:t>
            </a:r>
            <a:endParaRPr lang="zh-TW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當天前 5 名</a:t>
            </a:r>
            <a:endParaRPr lang="zh-TW" sz="1200" dirty="0"/>
          </a:p>
        </p:txBody>
      </p:sp>
      <p:sp>
        <p:nvSpPr>
          <p:cNvPr id="32" name="point-io"/>
          <p:cNvSpPr/>
          <p:nvPr/>
        </p:nvSpPr>
        <p:spPr>
          <a:xfrm>
            <a:off x="548640" y="3977640"/>
            <a:ext cx="53949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33" name="Text 24"/>
          <p:cNvSpPr txBox="1"/>
          <p:nvPr/>
        </p:nvSpPr>
        <p:spPr>
          <a:xfrm>
            <a:off x="777240" y="416052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zh-TW" altLang="en-US" sz="1700" b="1" dirty="0">
                <a:solidFill>
                  <a:schemeClr val="tx1"/>
                </a:solidFill>
              </a:rPr>
              <a:t>對外 IO 全靠注入</a:t>
            </a:r>
            <a:endParaRPr lang="zh-TW" sz="1600" dirty="0"/>
          </a:p>
          <a:p>
            <a:pPr indent="0" marL="0">
              <a:spcAft>
                <a:spcPts val="600"/>
              </a:spcAft>
              <a:buNone/>
            </a:pPr>
            <a:r>
              <a:rPr lang="zh-TW" altLang="en-US" sz="1400" dirty="0">
                <a:solidFill>
                  <a:schemeClr val="accent6"/>
                </a:solidFill>
              </a:rPr>
              <a:t>抓 104、呼叫 LLM、推播都靠注入，流程只讀寫本機資料庫。抓取方式曾從「真實瀏覽器」整個換成「純 HTTP」，流程、儲存、評分、推播一行都沒改。</a:t>
            </a:r>
            <a:endParaRPr lang="zh-TW" sz="1600" dirty="0"/>
          </a:p>
        </p:txBody>
      </p:sp>
      <p:sp>
        <p:nvSpPr>
          <p:cNvPr id="34" name="point-ui"/>
          <p:cNvSpPr/>
          <p:nvPr/>
        </p:nvSpPr>
        <p:spPr>
          <a:xfrm>
            <a:off x="6217920" y="3977640"/>
            <a:ext cx="53949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35" name="Text 26"/>
          <p:cNvSpPr txBox="1"/>
          <p:nvPr/>
        </p:nvSpPr>
        <p:spPr>
          <a:xfrm>
            <a:off x="6446520" y="416052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zh-TW" altLang="en-US" sz="1700" b="1" dirty="0">
                <a:solidFill>
                  <a:schemeClr val="tx1"/>
                </a:solidFill>
              </a:rPr>
              <a:t>Web UI 只讀資料庫的快照</a:t>
            </a:r>
            <a:endParaRPr lang="zh-TW" sz="1600" dirty="0"/>
          </a:p>
          <a:p>
            <a:pPr indent="0" marL="0">
              <a:spcAft>
                <a:spcPts val="600"/>
              </a:spcAft>
              <a:buNone/>
            </a:pPr>
            <a:r>
              <a:rPr lang="zh-TW" altLang="en-US" sz="1400" dirty="0">
                <a:solidFill>
                  <a:schemeClr val="accent6"/>
                </a:solidFill>
              </a:rPr>
              <a:t>每週一在本機挑這週要投哪幾家。只綁 127.0.0.1、不會連 104；標記另存獨立資料庫，不跟每日排程搶檔案。</a:t>
            </a:r>
            <a:endParaRPr lang="zh-TW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E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漏斗：規則層先砍 70%，LLM 只看值得看的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58368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icon-bg-funnel-FaFilter"/>
          <p:cNvSpPr/>
          <p:nvPr/>
        </p:nvSpPr>
        <p:spPr>
          <a:xfrm>
            <a:off x="7498080" y="1508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funnel-FaFilter" descr="funnel-FaFil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645920"/>
            <a:ext cx="274320" cy="2743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229600" y="146304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zh-TW" altLang="en-US" sz="1700" b="1" dirty="0">
                <a:solidFill>
                  <a:schemeClr val="tx1"/>
                </a:solidFill>
              </a:rPr>
              <a:t>規則層：零成本</a:t>
            </a:r>
            <a:endParaRPr lang="zh-TW" sz="1600" dirty="0"/>
          </a:p>
          <a:p>
            <a:pPr indent="0" marL="0">
              <a:spcAft>
                <a:spcPts val="400"/>
              </a:spcAft>
              <a:buNone/>
            </a:pPr>
            <a:r>
              <a:rPr lang="zh-TW" altLang="en-US" sz="1400" dirty="0">
                <a:solidFill>
                  <a:schemeClr val="accent6"/>
                </a:solidFill>
              </a:rPr>
              <a:t>產業代碼前綴 + 員工數，在 LLM 之前執行。不符合的不花 token，也不佔每天的詳細頁名額。</a:t>
            </a:r>
            <a:endParaRPr lang="zh-TW" sz="1600" dirty="0"/>
          </a:p>
        </p:txBody>
      </p:sp>
      <p:sp>
        <p:nvSpPr>
          <p:cNvPr id="7" name="icon-bg-funnel-FaLayerGroup"/>
          <p:cNvSpPr/>
          <p:nvPr/>
        </p:nvSpPr>
        <p:spPr>
          <a:xfrm>
            <a:off x="7498080" y="2926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con-funnel-FaLayerGroup" descr="funnel-FaLayerGrou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3063240"/>
            <a:ext cx="274320" cy="2743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229600" y="28803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zh-TW" altLang="en-US" sz="1700" b="1" dirty="0">
                <a:solidFill>
                  <a:schemeClr val="tx1"/>
                </a:solidFill>
              </a:rPr>
              <a:t>粗篩：15 筆一批</a:t>
            </a:r>
            <a:endParaRPr lang="zh-TW" sz="1600" dirty="0"/>
          </a:p>
          <a:p>
            <a:pPr indent="0" marL="0">
              <a:spcAft>
                <a:spcPts val="400"/>
              </a:spcAft>
              <a:buNone/>
            </a:pPr>
            <a:r>
              <a:rPr lang="zh-TW" altLang="en-US" sz="1400" dirty="0">
                <a:solidFill>
                  <a:schemeClr val="accent6"/>
                </a:solidFill>
              </a:rPr>
              <a:t>履歷是每次呼叫的固定成本，批次送攤下來每筆約 60 token（設計估算）。</a:t>
            </a:r>
            <a:endParaRPr lang="zh-TW" sz="1600" dirty="0"/>
          </a:p>
        </p:txBody>
      </p:sp>
      <p:sp>
        <p:nvSpPr>
          <p:cNvPr id="10" name="icon-bg-funnel-FaFileLines"/>
          <p:cNvSpPr/>
          <p:nvPr/>
        </p:nvSpPr>
        <p:spPr>
          <a:xfrm>
            <a:off x="7498080" y="43434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-funnel-FaFileLines" descr="funnel-FaFileLin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448056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229600" y="429768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zh-TW" altLang="en-US" sz="1700" b="1" dirty="0">
                <a:solidFill>
                  <a:schemeClr val="tx1"/>
                </a:solidFill>
              </a:rPr>
              <a:t>深評：逐筆讀完整 JD</a:t>
            </a:r>
            <a:endParaRPr lang="zh-TW" sz="1600" dirty="0"/>
          </a:p>
          <a:p>
            <a:pPr indent="0" marL="0">
              <a:spcAft>
                <a:spcPts val="400"/>
              </a:spcAft>
              <a:buNone/>
            </a:pPr>
            <a:r>
              <a:rPr lang="zh-TW" altLang="en-US" sz="1400" dirty="0">
                <a:solidFill>
                  <a:schemeClr val="accent6"/>
                </a:solidFill>
              </a:rPr>
              <a:t>五個維度評分，再由程式端校正（下一頁）。</a:t>
            </a:r>
            <a:endParaRPr lang="zh-TW" sz="1600" dirty="0"/>
          </a:p>
        </p:txBody>
      </p:sp>
      <p:sp>
        <p:nvSpPr>
          <p:cNvPr id="13" name="Text 7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100" i="1" dirty="0">
                <a:solidFill>
                  <a:schemeClr val="accent6"/>
                </a:solidFill>
              </a:rPr>
              <a:t>資料：jobs.db runs 表 started_at ≥ 2026-09-23 的 24 次實際執行；通過規則層 = 新職缺 1,481 − 規則層濾掉 1,039</a:t>
            </a:r>
            <a:endParaRPr lang="zh-TW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E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評分：模型只做判斷，數字和取捨由程式決定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深評五個維度（滿分 100）</a:t>
            </a:r>
            <a:endParaRPr lang="zh-TW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技術契合</a:t>
            </a:r>
            <a:endParaRPr lang="zh-TW" sz="1500" dirty="0"/>
          </a:p>
        </p:txBody>
      </p:sp>
      <p:sp>
        <p:nvSpPr>
          <p:cNvPr id="5" name="dim-技術契合"/>
          <p:cNvSpPr/>
          <p:nvPr/>
        </p:nvSpPr>
        <p:spPr>
          <a:xfrm>
            <a:off x="2194560" y="1965960"/>
            <a:ext cx="3291840" cy="274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57784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accent1"/>
                </a:solidFill>
              </a:rPr>
              <a:t>35</a:t>
            </a:r>
            <a:endParaRPr lang="zh-TW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042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SQL / Python / ETL / 排程 / 爬蟲 權重最高</a:t>
            </a:r>
            <a:endParaRPr lang="zh-TW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70662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年資可行性</a:t>
            </a:r>
            <a:endParaRPr lang="zh-TW" sz="1500" dirty="0"/>
          </a:p>
        </p:txBody>
      </p:sp>
      <p:sp>
        <p:nvSpPr>
          <p:cNvPr id="9" name="dim-年資可行性"/>
          <p:cNvSpPr/>
          <p:nvPr/>
        </p:nvSpPr>
        <p:spPr>
          <a:xfrm>
            <a:off x="2194560" y="2752344"/>
            <a:ext cx="2351314" cy="274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37314" y="27066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accent1"/>
                </a:solidFill>
              </a:rPr>
              <a:t>25</a:t>
            </a:r>
            <a:endParaRPr lang="zh-TW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0906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最關鍵：經歷不拘、1–3 年給高分</a:t>
            </a:r>
            <a:endParaRPr lang="zh-TW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4930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領域</a:t>
            </a:r>
            <a:endParaRPr lang="zh-TW" sz="1500" dirty="0"/>
          </a:p>
        </p:txBody>
      </p:sp>
      <p:sp>
        <p:nvSpPr>
          <p:cNvPr id="13" name="dim-領域"/>
          <p:cNvSpPr/>
          <p:nvPr/>
        </p:nvSpPr>
        <p:spPr>
          <a:xfrm>
            <a:off x="2194560" y="3538728"/>
            <a:ext cx="1410789" cy="274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96789" y="34930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accent1"/>
                </a:solidFill>
              </a:rPr>
              <a:t>15</a:t>
            </a:r>
            <a:endParaRPr lang="zh-TW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87705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金融（有實習）&gt; 半導體（只有專案）</a:t>
            </a:r>
            <a:endParaRPr lang="zh-TW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2793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成長</a:t>
            </a:r>
            <a:endParaRPr lang="zh-TW" sz="1500" dirty="0"/>
          </a:p>
        </p:txBody>
      </p:sp>
      <p:sp>
        <p:nvSpPr>
          <p:cNvPr id="17" name="dim-成長"/>
          <p:cNvSpPr/>
          <p:nvPr/>
        </p:nvSpPr>
        <p:spPr>
          <a:xfrm>
            <a:off x="2194560" y="4325112"/>
            <a:ext cx="1410789" cy="274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96789" y="42793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accent1"/>
                </a:solidFill>
              </a:rPr>
              <a:t>15</a:t>
            </a:r>
            <a:endParaRPr lang="zh-TW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有沒有 mentor、是不是真的做資料工程</a:t>
            </a:r>
            <a:endParaRPr lang="zh-TW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06577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實務</a:t>
            </a:r>
            <a:endParaRPr lang="zh-TW" sz="1500" dirty="0"/>
          </a:p>
        </p:txBody>
      </p:sp>
      <p:sp>
        <p:nvSpPr>
          <p:cNvPr id="21" name="dim-實務"/>
          <p:cNvSpPr/>
          <p:nvPr/>
        </p:nvSpPr>
        <p:spPr>
          <a:xfrm>
            <a:off x="2194560" y="5111496"/>
            <a:ext cx="940526" cy="274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226526" y="50657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accent1"/>
                </a:solidFill>
              </a:rPr>
              <a:t>10</a:t>
            </a:r>
            <a:endParaRPr lang="zh-TW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44982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地點、雇用型態；「待遇面議」給中間值</a:t>
            </a:r>
            <a:endParaRPr lang="zh-TW" sz="1200" dirty="0"/>
          </a:p>
        </p:txBody>
      </p:sp>
      <p:sp>
        <p:nvSpPr>
          <p:cNvPr id="24" name="rules"/>
          <p:cNvSpPr/>
          <p:nvPr/>
        </p:nvSpPr>
        <p:spPr>
          <a:xfrm>
            <a:off x="6446520" y="1371600"/>
            <a:ext cx="5166360" cy="4389120"/>
          </a:xfrm>
          <a:prstGeom prst="roundRect">
            <a:avLst>
              <a:gd name="adj" fmla="val 1667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20840" y="155448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程式端三道校正</a:t>
            </a:r>
            <a:endParaRPr lang="zh-TW" sz="1800" dirty="0"/>
          </a:p>
        </p:txBody>
      </p:sp>
      <p:sp>
        <p:nvSpPr>
          <p:cNvPr id="26" name="rule-num-1"/>
          <p:cNvSpPr/>
          <p:nvPr/>
        </p:nvSpPr>
        <p:spPr>
          <a:xfrm>
            <a:off x="6720840" y="214884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2084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1</a:t>
            </a:r>
            <a:endParaRPr lang="zh-TW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0" y="2121408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年資 hard rule</a:t>
            </a:r>
            <a:endParaRPr lang="zh-TW" sz="1600" dirty="0"/>
          </a:p>
          <a:p>
            <a:pPr indent="0" marL="0">
              <a:spcAft>
                <a:spcPts val="300"/>
              </a:spcAft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JD 要求 ≥5 年 → 年資維度強制壓到 8 分。專案多、正職年資少，模型最容易把我當資深工程師。</a:t>
            </a:r>
            <a:endParaRPr lang="zh-TW" sz="1600" dirty="0"/>
          </a:p>
        </p:txBody>
      </p:sp>
      <p:sp>
        <p:nvSpPr>
          <p:cNvPr id="29" name="rule-num-2"/>
          <p:cNvSpPr/>
          <p:nvPr/>
        </p:nvSpPr>
        <p:spPr>
          <a:xfrm>
            <a:off x="6720840" y="333756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72084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2</a:t>
            </a:r>
            <a:endParaRPr lang="zh-TW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315200" y="3310128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總分由程式重算</a:t>
            </a:r>
            <a:endParaRPr lang="zh-TW" sz="1600" dirty="0"/>
          </a:p>
          <a:p>
            <a:pPr indent="0" marL="0">
              <a:spcAft>
                <a:spcPts val="300"/>
              </a:spcAft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五個維度相加，不採用模型自己加的總分。</a:t>
            </a:r>
            <a:endParaRPr lang="zh-TW" sz="1600" dirty="0"/>
          </a:p>
        </p:txBody>
      </p:sp>
      <p:sp>
        <p:nvSpPr>
          <p:cNvPr id="32" name="rule-num-3"/>
          <p:cNvSpPr/>
          <p:nvPr/>
        </p:nvSpPr>
        <p:spPr>
          <a:xfrm>
            <a:off x="6720840" y="452628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720840" y="4526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3</a:t>
            </a:r>
            <a:endParaRPr lang="zh-TW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0" y="4498848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定性交叉驗證</a:t>
            </a:r>
            <a:endParaRPr lang="zh-TW" sz="1600" dirty="0"/>
          </a:p>
          <a:p>
            <a:pPr indent="0" marL="0">
              <a:spcAft>
                <a:spcPts val="300"/>
              </a:spcAft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分數達標但模型判 skip / maybe → 降到 59（門檻 − 1），排序往後。不合法的 verdict 跳過，不當負面訊號</a:t>
            </a:r>
            <a:endParaRPr lang="zh-TW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E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Web UI：把分數變成每週一的投遞決策</a:t>
            </a:r>
            <a:endParaRPr lang="en-US" sz="3000" dirty="0"/>
          </a:p>
        </p:txBody>
      </p:sp>
      <p:pic>
        <p:nvPicPr>
          <p:cNvPr id="3" name="webui-shot" descr="Web UI 候選清單:三道閘門燈號、深評分數與公司職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400800" cy="4303986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548640" y="583103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100" i="1" dirty="0">
                <a:solidFill>
                  <a:schemeClr val="accent6"/>
                </a:solidFill>
              </a:rPr>
              <a:t>候選清單：每筆職缺都標出卡在第幾道閘門</a:t>
            </a:r>
            <a:endParaRPr lang="zh-TW" sz="1100" dirty="0"/>
          </a:p>
        </p:txBody>
      </p:sp>
      <p:sp>
        <p:nvSpPr>
          <p:cNvPr id="5" name="icon-bg-ui-FaListCheck"/>
          <p:cNvSpPr/>
          <p:nvPr/>
        </p:nvSpPr>
        <p:spPr>
          <a:xfrm>
            <a:off x="7269480" y="1508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ui-FaListCheck" descr="ui-FaList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645920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001000" y="1463040"/>
            <a:ext cx="3611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zh-TW" altLang="en-US" sz="1700" b="1" dirty="0">
                <a:solidFill>
                  <a:schemeClr val="tx1"/>
                </a:solidFill>
              </a:rPr>
              <a:t>三道閘門</a:t>
            </a:r>
            <a:endParaRPr lang="zh-TW" sz="1600" dirty="0"/>
          </a:p>
          <a:p>
            <a:pPr indent="0" marL="0">
              <a:spcAft>
                <a:spcPts val="400"/>
              </a:spcAft>
              <a:buNone/>
            </a:pPr>
            <a:r>
              <a:rPr lang="zh-TW" altLang="en-US" sz="1400" dirty="0">
                <a:solidFill>
                  <a:schemeClr val="accent6"/>
                </a:solidFill>
              </a:rPr>
              <a:t>硬門檻 → 職缺訊號（SI、打雜等紅燈）→ 必備命中率，依序判定</a:t>
            </a:r>
            <a:endParaRPr lang="zh-TW" sz="1600" dirty="0"/>
          </a:p>
        </p:txBody>
      </p:sp>
      <p:sp>
        <p:nvSpPr>
          <p:cNvPr id="8" name="icon-bg-ui-FaUserCheck"/>
          <p:cNvSpPr/>
          <p:nvPr/>
        </p:nvSpPr>
        <p:spPr>
          <a:xfrm>
            <a:off x="7269480" y="2926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on-ui-FaUserCheck" descr="ui-FaUser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306324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001000" y="2880360"/>
            <a:ext cx="3611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zh-TW" altLang="en-US" sz="1700" b="1" dirty="0">
                <a:solidFill>
                  <a:schemeClr val="tx1"/>
                </a:solidFill>
              </a:rPr>
              <a:t>標記「不投」必填原因</a:t>
            </a:r>
            <a:endParaRPr lang="zh-TW" sz="1600" dirty="0"/>
          </a:p>
          <a:p>
            <a:pPr indent="0" marL="0">
              <a:spcAft>
                <a:spcPts val="400"/>
              </a:spcAft>
              <a:buNone/>
            </a:pPr>
            <a:r>
              <a:rPr lang="zh-TW" altLang="en-US" sz="1400" dirty="0">
                <a:solidFill>
                  <a:schemeClr val="accent6"/>
                </a:solidFill>
              </a:rPr>
              <a:t>累積的原因用來回頭檢討閘門設得對不對</a:t>
            </a:r>
            <a:endParaRPr lang="zh-TW" sz="1600" dirty="0"/>
          </a:p>
        </p:txBody>
      </p:sp>
      <p:sp>
        <p:nvSpPr>
          <p:cNvPr id="11" name="icon-bg-ui-FaLock"/>
          <p:cNvSpPr/>
          <p:nvPr/>
        </p:nvSpPr>
        <p:spPr>
          <a:xfrm>
            <a:off x="7269480" y="43434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-ui-FaLock" descr="ui-FaLo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448056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001000" y="4297680"/>
            <a:ext cx="3611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zh-TW" altLang="en-US" sz="1700" b="1" dirty="0">
                <a:solidFill>
                  <a:schemeClr val="tx1"/>
                </a:solidFill>
              </a:rPr>
              <a:t>唯讀快照 + 獨立資料庫</a:t>
            </a:r>
            <a:endParaRPr lang="zh-TW" sz="1600" dirty="0"/>
          </a:p>
          <a:p>
            <a:pPr indent="0" marL="0">
              <a:spcAft>
                <a:spcPts val="400"/>
              </a:spcAft>
              <a:buNone/>
            </a:pPr>
            <a:r>
              <a:rPr lang="zh-TW" altLang="en-US" sz="1400" dirty="0">
                <a:solidFill>
                  <a:schemeClr val="accent6"/>
                </a:solidFill>
              </a:rPr>
              <a:t>不碰每日排程的主資料庫，也不會觸發任何抓取</a:t>
            </a:r>
            <a:endParaRPr lang="zh-TW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E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200" b="1" dirty="0">
                <a:solidFill>
                  <a:schemeClr val="accent2"/>
                </a:solidFill>
              </a:rPr>
              <a:t>02</a:t>
            </a:r>
            <a:endParaRPr lang="zh-TW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5146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四個工程判斷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118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這個專案花最多時間的地方不在寫程式，而在「先量測、再下結論」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判斷 1：換關鍵字沒用，真正的問題在資料本身</a:t>
            </a:r>
            <a:endParaRPr lang="en-US" sz="3000" dirty="0"/>
          </a:p>
        </p:txBody>
      </p:sp>
      <p:sp>
        <p:nvSpPr>
          <p:cNvPr id="3" name="j1-0"/>
          <p:cNvSpPr/>
          <p:nvPr/>
        </p:nvSpPr>
        <p:spPr>
          <a:xfrm>
            <a:off x="548640" y="1417320"/>
            <a:ext cx="347472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4" name="icon-bg-j1-0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j1-0" descr="j1-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288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tx1"/>
                </a:solidFill>
              </a:rPr>
              <a:t>現象</a:t>
            </a:r>
            <a:endParaRPr lang="zh-TW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tx2"/>
                </a:solidFill>
              </a:rPr>
              <a:t>關鍵字已全部換成「資料工程師」這一類，推播出來的仍然大多是 AI 工程師職缺。</a:t>
            </a:r>
            <a:endParaRPr lang="zh-TW" sz="1500" dirty="0"/>
          </a:p>
        </p:txBody>
      </p:sp>
      <p:sp>
        <p:nvSpPr>
          <p:cNvPr id="8" name="j1-1"/>
          <p:cNvSpPr/>
          <p:nvPr/>
        </p:nvSpPr>
        <p:spPr>
          <a:xfrm>
            <a:off x="4343400" y="1417320"/>
            <a:ext cx="347472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9" name="icon-bg-j1-1"/>
          <p:cNvSpPr/>
          <p:nvPr/>
        </p:nvSpPr>
        <p:spPr>
          <a:xfrm>
            <a:off x="461772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-j1-1" descr="j1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0352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tx1"/>
                </a:solidFill>
              </a:rPr>
              <a:t>查證</a:t>
            </a:r>
            <a:endParaRPr lang="zh-TW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7720" y="24231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tx2"/>
                </a:solidFill>
              </a:rPr>
              <a:t>104 是全文模糊比對，JD 提到「資料工程」就會被撈回。改用「職務類別」過濾也試過 —— 雇主常掛錯類別，硬篩反而刪掉最好的職缺。</a:t>
            </a:r>
            <a:endParaRPr lang="zh-TW" sz="1500" dirty="0"/>
          </a:p>
        </p:txBody>
      </p:sp>
      <p:sp>
        <p:nvSpPr>
          <p:cNvPr id="13" name="j1-2"/>
          <p:cNvSpPr/>
          <p:nvPr/>
        </p:nvSpPr>
        <p:spPr>
          <a:xfrm>
            <a:off x="8138160" y="1417320"/>
            <a:ext cx="347472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14" name="icon-bg-j1-2"/>
          <p:cNvSpPr/>
          <p:nvPr/>
        </p:nvSpPr>
        <p:spPr>
          <a:xfrm>
            <a:off x="841248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-j1-2" descr="j1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182880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9828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tx1"/>
                </a:solidFill>
              </a:rPr>
              <a:t>做法</a:t>
            </a:r>
            <a:endParaRPr lang="zh-TW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12480" y="24231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tx2"/>
                </a:solidFill>
              </a:rPr>
              <a:t>改用產業代碼前綴 + 員工數過濾，放在我方程式端：請求數完全一樣，但不必對 104 多做測試請求，還能離線測試。</a:t>
            </a:r>
            <a:endParaRPr lang="zh-TW" sz="1500" dirty="0"/>
          </a:p>
        </p:txBody>
      </p:sp>
      <p:sp>
        <p:nvSpPr>
          <p:cNvPr id="18" name="j1-result"/>
          <p:cNvSpPr/>
          <p:nvPr/>
        </p:nvSpPr>
        <p:spPr>
          <a:xfrm>
            <a:off x="548640" y="4251960"/>
            <a:ext cx="11064240" cy="1188720"/>
          </a:xfrm>
          <a:prstGeom prst="roundRect">
            <a:avLst>
              <a:gd name="adj" fmla="val 6154"/>
            </a:avLst>
          </a:prstGeom>
          <a:solidFill>
            <a:schemeClr val="tx1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68680" y="43434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4400" b="1" dirty="0">
                <a:solidFill>
                  <a:schemeClr val="accent2"/>
                </a:solidFill>
              </a:rPr>
              <a:t>8 / 10</a:t>
            </a:r>
            <a:endParaRPr lang="zh-TW" sz="4400" dirty="0"/>
          </a:p>
        </p:txBody>
      </p:sp>
      <p:sp>
        <p:nvSpPr>
          <p:cNvPr id="20" name="Text 15"/>
          <p:cNvSpPr txBox="1"/>
          <p:nvPr/>
        </p:nvSpPr>
        <p:spPr>
          <a:xfrm>
            <a:off x="3154680" y="440740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700" b="1" dirty="0">
                <a:solidFill>
                  <a:schemeClr val="bg1"/>
                </a:solidFill>
              </a:rPr>
              <a:t>某天原本推播的 10 則裡，有 8 則是軟體/服務業小公司的 AI 職缺</a:t>
            </a:r>
            <a:endParaRPr lang="zh-TW" sz="1700" dirty="0"/>
          </a:p>
          <a:p>
            <a:pPr indent="0" marL="0">
              <a:buNone/>
            </a:pPr>
            <a:r>
              <a:rPr lang="zh-TW" altLang="en-US" sz="1400" dirty="0">
                <a:solidFill>
                  <a:srgbClr val="B7C6CE"/>
                </a:solidFill>
              </a:rPr>
              <a:t>改用產業/規模過濾後，這 8 則全部被擋下（2026-09-23 replay,run 27）</a:t>
            </a:r>
            <a:endParaRPr lang="zh-TW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E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判斷 2：LLM 分數有 ±8 雜訊，固定門檻等於擲骰子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同一份資料、同一個 prompt 跑兩次，當天最好的職缺：</a:t>
            </a:r>
            <a:endParaRPr lang="zh-TW" sz="1600" dirty="0"/>
          </a:p>
        </p:txBody>
      </p:sp>
      <p:sp>
        <p:nvSpPr>
          <p:cNvPr id="4" name="noise-band"/>
          <p:cNvSpPr/>
          <p:nvPr/>
        </p:nvSpPr>
        <p:spPr>
          <a:xfrm>
            <a:off x="4041648" y="2697480"/>
            <a:ext cx="1609344" cy="960120"/>
          </a:xfrm>
          <a:prstGeom prst="rect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041648" y="274320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tx2"/>
                </a:solidFill>
              </a:rPr>
              <a:t>雜訊帶 ±8</a:t>
            </a:r>
            <a:endParaRPr lang="zh-TW" sz="1200" dirty="0"/>
          </a:p>
        </p:txBody>
      </p:sp>
      <p:sp>
        <p:nvSpPr>
          <p:cNvPr id="6" name="axis"/>
          <p:cNvSpPr/>
          <p:nvPr/>
        </p:nvSpPr>
        <p:spPr>
          <a:xfrm>
            <a:off x="822960" y="3657600"/>
            <a:ext cx="6035040" cy="0"/>
          </a:xfrm>
          <a:prstGeom prst="line">
            <a:avLst/>
          </a:prstGeom>
          <a:noFill/>
          <a:ln w="19050">
            <a:solidFill>
              <a:srgbClr val="3D5A6C"/>
            </a:solidFill>
            <a:prstDash val="solid"/>
          </a:ln>
        </p:spPr>
      </p:sp>
      <p:sp>
        <p:nvSpPr>
          <p:cNvPr id="7" name="tick-40"/>
          <p:cNvSpPr/>
          <p:nvPr/>
        </p:nvSpPr>
        <p:spPr>
          <a:xfrm>
            <a:off x="822960" y="3657600"/>
            <a:ext cx="0" cy="91440"/>
          </a:xfrm>
          <a:prstGeom prst="line">
            <a:avLst/>
          </a:prstGeom>
          <a:noFill/>
          <a:ln w="12700">
            <a:solidFill>
              <a:srgbClr val="3D5A6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7764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40</a:t>
            </a:r>
            <a:endParaRPr lang="zh-TW" sz="1200" dirty="0"/>
          </a:p>
        </p:txBody>
      </p:sp>
      <p:sp>
        <p:nvSpPr>
          <p:cNvPr id="9" name="tick-50"/>
          <p:cNvSpPr/>
          <p:nvPr/>
        </p:nvSpPr>
        <p:spPr>
          <a:xfrm>
            <a:off x="1828800" y="3657600"/>
            <a:ext cx="0" cy="91440"/>
          </a:xfrm>
          <a:prstGeom prst="line">
            <a:avLst/>
          </a:prstGeom>
          <a:noFill/>
          <a:ln w="12700">
            <a:solidFill>
              <a:srgbClr val="3D5A6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554480" y="37764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50</a:t>
            </a:r>
            <a:endParaRPr lang="zh-TW" sz="1200" dirty="0"/>
          </a:p>
        </p:txBody>
      </p:sp>
      <p:sp>
        <p:nvSpPr>
          <p:cNvPr id="11" name="tick-60"/>
          <p:cNvSpPr/>
          <p:nvPr/>
        </p:nvSpPr>
        <p:spPr>
          <a:xfrm>
            <a:off x="2834640" y="3657600"/>
            <a:ext cx="0" cy="91440"/>
          </a:xfrm>
          <a:prstGeom prst="line">
            <a:avLst/>
          </a:prstGeom>
          <a:noFill/>
          <a:ln w="12700">
            <a:solidFill>
              <a:srgbClr val="3D5A6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60320" y="37764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60</a:t>
            </a:r>
            <a:endParaRPr lang="zh-TW" sz="1200" dirty="0"/>
          </a:p>
        </p:txBody>
      </p:sp>
      <p:sp>
        <p:nvSpPr>
          <p:cNvPr id="13" name="tick-70"/>
          <p:cNvSpPr/>
          <p:nvPr/>
        </p:nvSpPr>
        <p:spPr>
          <a:xfrm>
            <a:off x="3840480" y="3657600"/>
            <a:ext cx="0" cy="91440"/>
          </a:xfrm>
          <a:prstGeom prst="line">
            <a:avLst/>
          </a:prstGeom>
          <a:noFill/>
          <a:ln w="12700">
            <a:solidFill>
              <a:srgbClr val="3D5A6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66160" y="37764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70</a:t>
            </a:r>
            <a:endParaRPr lang="zh-TW" sz="1200" dirty="0"/>
          </a:p>
        </p:txBody>
      </p:sp>
      <p:sp>
        <p:nvSpPr>
          <p:cNvPr id="15" name="tick-80"/>
          <p:cNvSpPr/>
          <p:nvPr/>
        </p:nvSpPr>
        <p:spPr>
          <a:xfrm>
            <a:off x="4846320" y="3657600"/>
            <a:ext cx="0" cy="91440"/>
          </a:xfrm>
          <a:prstGeom prst="line">
            <a:avLst/>
          </a:prstGeom>
          <a:noFill/>
          <a:ln w="12700">
            <a:solidFill>
              <a:srgbClr val="3D5A6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37764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80</a:t>
            </a:r>
            <a:endParaRPr lang="zh-TW" sz="1200" dirty="0"/>
          </a:p>
        </p:txBody>
      </p:sp>
      <p:sp>
        <p:nvSpPr>
          <p:cNvPr id="17" name="tick-90"/>
          <p:cNvSpPr/>
          <p:nvPr/>
        </p:nvSpPr>
        <p:spPr>
          <a:xfrm>
            <a:off x="5852160" y="3657600"/>
            <a:ext cx="0" cy="91440"/>
          </a:xfrm>
          <a:prstGeom prst="line">
            <a:avLst/>
          </a:prstGeom>
          <a:noFill/>
          <a:ln w="12700">
            <a:solidFill>
              <a:srgbClr val="3D5A6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577840" y="37764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90</a:t>
            </a:r>
            <a:endParaRPr lang="zh-TW" sz="1200" dirty="0"/>
          </a:p>
        </p:txBody>
      </p:sp>
      <p:sp>
        <p:nvSpPr>
          <p:cNvPr id="19" name="tick-100"/>
          <p:cNvSpPr/>
          <p:nvPr/>
        </p:nvSpPr>
        <p:spPr>
          <a:xfrm>
            <a:off x="6858000" y="3657600"/>
            <a:ext cx="0" cy="91440"/>
          </a:xfrm>
          <a:prstGeom prst="line">
            <a:avLst/>
          </a:prstGeom>
          <a:noFill/>
          <a:ln w="12700">
            <a:solidFill>
              <a:srgbClr val="3D5A6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0" y="37764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100</a:t>
            </a:r>
            <a:endParaRPr lang="zh-TW" sz="1200" dirty="0"/>
          </a:p>
        </p:txBody>
      </p:sp>
      <p:sp>
        <p:nvSpPr>
          <p:cNvPr id="21" name="threshold"/>
          <p:cNvSpPr/>
          <p:nvPr/>
        </p:nvSpPr>
        <p:spPr>
          <a:xfrm>
            <a:off x="4846320" y="2331720"/>
            <a:ext cx="0" cy="1325880"/>
          </a:xfrm>
          <a:prstGeom prst="line">
            <a:avLst/>
          </a:prstGeom>
          <a:noFill/>
          <a:ln w="31750">
            <a:solidFill>
              <a:srgbClr val="C8473F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4023360" y="1965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accent3"/>
                </a:solidFill>
              </a:rPr>
              <a:t>當時的門檻 80</a:t>
            </a:r>
            <a:endParaRPr lang="zh-TW" sz="1300" dirty="0"/>
          </a:p>
        </p:txBody>
      </p:sp>
      <p:sp>
        <p:nvSpPr>
          <p:cNvPr id="23" name="dot-80"/>
          <p:cNvSpPr/>
          <p:nvPr/>
        </p:nvSpPr>
        <p:spPr>
          <a:xfrm>
            <a:off x="4727448" y="3264408"/>
            <a:ext cx="237744" cy="237744"/>
          </a:xfrm>
          <a:prstGeom prst="ellipse">
            <a:avLst/>
          </a:prstGeom>
          <a:solidFill>
            <a:schemeClr val="tx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dot-88"/>
          <p:cNvSpPr/>
          <p:nvPr/>
        </p:nvSpPr>
        <p:spPr>
          <a:xfrm>
            <a:off x="5532120" y="3264408"/>
            <a:ext cx="237744" cy="237744"/>
          </a:xfrm>
          <a:prstGeom prst="ellipse">
            <a:avLst/>
          </a:prstGeom>
          <a:solidFill>
            <a:schemeClr val="tx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063240" y="32186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chemeClr val="tx1"/>
                </a:solidFill>
              </a:rPr>
              <a:t>第 1 次 80 分</a:t>
            </a:r>
            <a:endParaRPr lang="zh-TW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852160" y="32186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tx1"/>
                </a:solidFill>
              </a:rPr>
              <a:t>第 2 次 88 分</a:t>
            </a:r>
            <a:endParaRPr lang="zh-TW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43484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門檻剛好落在雜訊帶正中央：</a:t>
            </a:r>
            <a:endParaRPr lang="zh-TW" sz="1600" dirty="0"/>
          </a:p>
          <a:p>
            <a:pPr indent="0" marL="0">
              <a:spcAft>
                <a:spcPts val="400"/>
              </a:spcAft>
              <a:buNone/>
            </a:pPr>
            <a:r>
              <a:rPr lang="zh-TW" altLang="en-US" sz="1600" dirty="0">
                <a:solidFill>
                  <a:schemeClr val="accent6"/>
                </a:solidFill>
              </a:rPr>
              <a:t>最好的職缺會隨機出現或消失，而外面看起來就只是「今天沒有好缺」—— 沒有任何跡象可以察覺。</a:t>
            </a:r>
            <a:endParaRPr lang="zh-TW" sz="1600" dirty="0"/>
          </a:p>
        </p:txBody>
      </p:sp>
      <p:sp>
        <p:nvSpPr>
          <p:cNvPr id="28" name="j2-fix"/>
          <p:cNvSpPr/>
          <p:nvPr/>
        </p:nvSpPr>
        <p:spPr>
          <a:xfrm>
            <a:off x="7315200" y="1417320"/>
            <a:ext cx="4297680" cy="4297680"/>
          </a:xfrm>
          <a:prstGeom prst="roundRect">
            <a:avLst>
              <a:gd name="adj" fmla="val 1702"/>
            </a:avLst>
          </a:prstGeom>
          <a:solidFill>
            <a:schemeClr val="accent5"/>
          </a:solidFill>
          <a:ln/>
        </p:spPr>
      </p:sp>
      <p:sp>
        <p:nvSpPr>
          <p:cNvPr id="29" name="icon-bg-j2"/>
          <p:cNvSpPr/>
          <p:nvPr/>
        </p:nvSpPr>
        <p:spPr>
          <a:xfrm>
            <a:off x="7589520" y="16459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con-j2" descr="j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8110" y="1794510"/>
            <a:ext cx="297180" cy="297180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8321040" y="1691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tx1"/>
                </a:solidFill>
              </a:rPr>
              <a:t>改成相對排序</a:t>
            </a:r>
            <a:endParaRPr lang="zh-TW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7635240" y="246888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zh-TW" altLang="en-US" sz="1600" dirty="0">
                <a:solidFill>
                  <a:schemeClr val="tx1"/>
                </a:solidFill>
              </a:rPr>
              <a:t>推播當天分數前 5 名，雜訊只影響排序，不再決定有沒有</a:t>
            </a:r>
            <a:endParaRPr lang="zh-TW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zh-TW" altLang="en-US" sz="1600" dirty="0">
                <a:solidFill>
                  <a:schemeClr val="tx1"/>
                </a:solidFill>
              </a:rPr>
              <a:t>另設一個遠低於雜訊帶的下限，只擋明顯不合適的</a:t>
            </a:r>
            <a:endParaRPr lang="zh-TW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zh-TW" altLang="en-US" sz="1600" dirty="0">
                <a:solidFill>
                  <a:schemeClr val="tx1"/>
                </a:solidFill>
              </a:rPr>
              <a:t>換成 Claude 評分後依新口徑重校：下限 50</a:t>
            </a:r>
            <a:endParaRPr lang="zh-TW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100" i="1" dirty="0">
                <a:solidFill>
                  <a:schemeClr val="accent6"/>
                </a:solidFill>
              </a:rPr>
              <a:t>雜訊實測：Gemini 時期同一批資料 replay 兩次；Claude 評分後分數整體低 18.3 分（405 筆配對），門檻 80→60、下限 60→50</a:t>
            </a:r>
            <a:endParaRPr lang="zh-TW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E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判斷 3：平均數會稀釋致命缺口，核心條件一票否決</a:t>
            </a:r>
            <a:endParaRPr lang="en-US" sz="3000" dirty="0"/>
          </a:p>
        </p:txBody>
      </p:sp>
      <p:sp>
        <p:nvSpPr>
          <p:cNvPr id="3" name="j3-llm"/>
          <p:cNvSpPr/>
          <p:nvPr/>
        </p:nvSpPr>
        <p:spPr>
          <a:xfrm>
            <a:off x="548640" y="1463040"/>
            <a:ext cx="32918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6000" b="1" dirty="0">
                <a:solidFill>
                  <a:schemeClr val="accent4"/>
                </a:solidFill>
              </a:rPr>
              <a:t>88%</a:t>
            </a:r>
            <a:endParaRPr lang="zh-TW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80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dirty="0">
                <a:solidFill>
                  <a:schemeClr val="tx1"/>
                </a:solidFill>
              </a:rPr>
              <a:t>LLM 算出的平均命中率</a:t>
            </a:r>
            <a:endParaRPr lang="zh-TW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某半導體/電子大廠資料職缺</a:t>
            </a:r>
            <a:endParaRPr lang="zh-TW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21488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2200" b="1" dirty="0">
                <a:solidFill>
                  <a:schemeClr val="accent6"/>
                </a:solidFill>
              </a:rPr>
              <a:t>vs</a:t>
            </a:r>
            <a:endParaRPr lang="zh-TW" sz="2200" dirty="0"/>
          </a:p>
        </p:txBody>
      </p:sp>
      <p:sp>
        <p:nvSpPr>
          <p:cNvPr id="8" name="j3-me"/>
          <p:cNvSpPr/>
          <p:nvPr/>
        </p:nvSpPr>
        <p:spPr>
          <a:xfrm>
            <a:off x="4663440" y="1463040"/>
            <a:ext cx="3291840" cy="2377440"/>
          </a:xfrm>
          <a:prstGeom prst="roundRect">
            <a:avLst>
              <a:gd name="adj" fmla="val 3077"/>
            </a:avLst>
          </a:prstGeom>
          <a:solidFill>
            <a:schemeClr val="tx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63440" y="17373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6000" b="1" dirty="0">
                <a:solidFill>
                  <a:schemeClr val="accent2"/>
                </a:solidFill>
              </a:rPr>
              <a:t>61%</a:t>
            </a:r>
            <a:endParaRPr lang="zh-TW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880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dirty="0">
                <a:solidFill>
                  <a:schemeClr val="bg1"/>
                </a:solidFill>
              </a:rPr>
              <a:t>我自己的人工判斷</a:t>
            </a:r>
            <a:endParaRPr lang="zh-TW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3246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B7C6CE"/>
                </a:solidFill>
              </a:rPr>
              <a:t>差距在核心條件：AWS 資料服務</a:t>
            </a:r>
            <a:endParaRPr lang="zh-TW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1463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700" b="1" dirty="0">
                <a:solidFill>
                  <a:schemeClr val="tx1"/>
                </a:solidFill>
              </a:rPr>
              <a:t>改成：LLM 只判定，百分比由程式算</a:t>
            </a:r>
            <a:endParaRPr lang="zh-TW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1168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zh-TW" altLang="en-US" sz="1500" dirty="0">
                <a:solidFill>
                  <a:schemeClr val="tx1"/>
                </a:solidFill>
              </a:rPr>
              <a:t>LLM 逐條判定「符合 / 部分 / 不符」，附履歷證據</a:t>
            </a:r>
            <a:endParaRPr lang="zh-TW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zh-TW" altLang="en-US" sz="1500" dirty="0">
                <a:solidFill>
                  <a:schemeClr val="tx1"/>
                </a:solidFill>
              </a:rPr>
              <a:t>程式算：符合 1、部分 0.5、不符 0</a:t>
            </a:r>
            <a:endParaRPr lang="zh-TW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zh-TW" altLang="en-US" sz="1500" dirty="0">
                <a:solidFill>
                  <a:schemeClr val="tx1"/>
                </a:solidFill>
              </a:rPr>
              <a:t>每筆最多標 2 條核心條件，任一不是「符合」→ 直接不通過</a:t>
            </a:r>
            <a:endParaRPr lang="zh-TW" sz="1500" dirty="0"/>
          </a:p>
        </p:txBody>
      </p:sp>
      <p:sp>
        <p:nvSpPr>
          <p:cNvPr id="14" name="j3-lesson"/>
          <p:cNvSpPr/>
          <p:nvPr/>
        </p:nvSpPr>
        <p:spPr>
          <a:xfrm>
            <a:off x="548640" y="4206240"/>
            <a:ext cx="7406640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/>
        </p:spPr>
      </p:sp>
      <p:sp>
        <p:nvSpPr>
          <p:cNvPr id="15" name="icon-bg-j3"/>
          <p:cNvSpPr/>
          <p:nvPr/>
        </p:nvSpPr>
        <p:spPr>
          <a:xfrm>
            <a:off x="822960" y="4526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-j3" descr="j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4697730"/>
            <a:ext cx="342900" cy="3429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737360" y="4389120"/>
            <a:ext cx="6035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700" b="1" dirty="0">
                <a:solidFill>
                  <a:schemeClr val="tx1"/>
                </a:solidFill>
              </a:rPr>
              <a:t>判準由我定義，模型負責執行</a:t>
            </a:r>
            <a:endParaRPr lang="zh-TW" sz="1700" dirty="0"/>
          </a:p>
          <a:p>
            <a:pPr indent="0" marL="0">
              <a:buNone/>
            </a:pPr>
            <a:r>
              <a:rPr lang="zh-TW" altLang="en-US" sz="1500" dirty="0">
                <a:solidFill>
                  <a:schemeClr val="tx2"/>
                </a:solidFill>
              </a:rPr>
              <a:t>我拿自己的人工判斷校正模型：差距大的地方，就是規則該改的地方。</a:t>
            </a:r>
            <a:endParaRPr lang="zh-TW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E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判斷 4：雲端被擋的原因是 IP 信譽，不是抓取手法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011680"/>
                <a:gridCol w="256032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連線來源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做法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結果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家用台灣住宅 IP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純 HTTP，帶 Referer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7F7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 200，連續 19 個請求全過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雲端資料中心 IP(Modal)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純 HTTP，帶 Referer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847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✗ 403,Cloudflare 驗證頁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雲端資料中心 IP(Modal)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真實瀏覽器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847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✗ 更糟：升級成要人工操作的驗證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5720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700" b="1" dirty="0">
                <a:solidFill>
                  <a:schemeClr val="tx1"/>
                </a:solidFill>
              </a:rPr>
              <a:t>結論：</a:t>
            </a:r>
            <a:pPr indent="0" marL="0">
              <a:buNone/>
            </a:pPr>
            <a:r>
              <a:rPr lang="zh-TW" altLang="en-US" sz="1700" dirty="0">
                <a:solidFill>
                  <a:schemeClr val="tx1"/>
                </a:solidFill>
              </a:rPr>
              <a:t>擋下來的是 IP 信譽 —— 換做法不會過，換成瀏覽器反而更糟。</a:t>
            </a:r>
            <a:endParaRPr lang="zh-TW" sz="1700" dirty="0"/>
          </a:p>
        </p:txBody>
      </p:sp>
      <p:sp>
        <p:nvSpPr>
          <p:cNvPr id="5" name="j4-decision"/>
          <p:cNvSpPr/>
          <p:nvPr/>
        </p:nvSpPr>
        <p:spPr>
          <a:xfrm>
            <a:off x="7863840" y="1463040"/>
            <a:ext cx="3749040" cy="4206240"/>
          </a:xfrm>
          <a:prstGeom prst="roundRect">
            <a:avLst>
              <a:gd name="adj" fmla="val 1951"/>
            </a:avLst>
          </a:prstGeom>
          <a:solidFill>
            <a:schemeClr val="bg2"/>
          </a:solidFill>
          <a:ln/>
        </p:spPr>
      </p:sp>
      <p:sp>
        <p:nvSpPr>
          <p:cNvPr id="6" name="icon-bg-j4"/>
          <p:cNvSpPr/>
          <p:nvPr/>
        </p:nvSpPr>
        <p:spPr>
          <a:xfrm>
            <a:off x="8138160" y="16916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-j4" descr="j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6750" y="1840230"/>
            <a:ext cx="297180" cy="2971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869680" y="1737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tx1"/>
                </a:solidFill>
              </a:rPr>
              <a:t>我的決定</a:t>
            </a:r>
            <a:endParaRPr lang="zh-TW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8183880" y="251460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zh-TW" altLang="en-US" sz="1600" dirty="0">
                <a:solidFill>
                  <a:schemeClr val="tx1"/>
                </a:solidFill>
              </a:rPr>
              <a:t>遇到驗證不去繞過（瀏覽器測試只為診斷原因）</a:t>
            </a:r>
            <a:endParaRPr lang="zh-TW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zh-TW" altLang="en-US" sz="1600" dirty="0">
                <a:solidFill>
                  <a:schemeClr val="tx1"/>
                </a:solidFill>
              </a:rPr>
              <a:t>改在本機排程執行</a:t>
            </a:r>
            <a:endParaRPr lang="zh-TW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zh-TW" altLang="en-US" sz="1600" dirty="0">
                <a:solidFill>
                  <a:schemeClr val="tx1"/>
                </a:solidFill>
              </a:rPr>
              <a:t>雲端版程式碼完整保留，等有合規的住宅連線再切回去</a:t>
            </a:r>
            <a:endParaRPr lang="zh-TW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100" i="1" dirty="0">
                <a:solidFill>
                  <a:schemeClr val="accent6"/>
                </a:solidFill>
              </a:rPr>
              <a:t>實測日期 2026-08-22；診斷指令 modal run modal_app.py::diagnose 從雲端發一個請求，印出 egress IP、cf-mitigated、server 與 body</a:t>
            </a:r>
            <a:endParaRPr lang="zh-TW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E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200" b="1" dirty="0">
                <a:solidFill>
                  <a:schemeClr val="accent2"/>
                </a:solidFill>
              </a:rPr>
              <a:t>03</a:t>
            </a:r>
            <a:endParaRPr lang="zh-TW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5146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可靠性與合規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118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寧可少抓幾筆職缺，也不給資料來源添麻煩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衝突時的犧牲順序：帳號 &gt; 家中 IP &gt; 雲端 IP &gt; 功能</a:t>
            </a:r>
            <a:endParaRPr lang="en-US" sz="3000" dirty="0"/>
          </a:p>
        </p:txBody>
      </p:sp>
      <p:sp>
        <p:nvSpPr>
          <p:cNvPr id="3" name="prio-1"/>
          <p:cNvSpPr/>
          <p:nvPr/>
        </p:nvSpPr>
        <p:spPr>
          <a:xfrm>
            <a:off x="548640" y="1463040"/>
            <a:ext cx="4937760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bg1"/>
                </a:solidFill>
              </a:rPr>
              <a:t>1</a:t>
            </a:r>
            <a:endParaRPr lang="zh-TW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5544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700" b="1" dirty="0">
                <a:solidFill>
                  <a:schemeClr val="bg1"/>
                </a:solidFill>
              </a:rPr>
              <a:t>104 求職帳號</a:t>
            </a:r>
            <a:endParaRPr lang="zh-TW" sz="1600" dirty="0"/>
          </a:p>
          <a:p>
            <a:pPr indent="0" marL="0">
              <a:buNone/>
            </a:pPr>
            <a:r>
              <a:rPr lang="zh-TW" altLang="en-US" sz="1200" dirty="0">
                <a:solidFill>
                  <a:schemeClr val="bg1"/>
                </a:solidFill>
              </a:rPr>
              <a:t>被停權 = 失去真實求職身分，無可替代</a:t>
            </a:r>
            <a:endParaRPr lang="zh-TW" sz="1600" dirty="0"/>
          </a:p>
        </p:txBody>
      </p:sp>
      <p:sp>
        <p:nvSpPr>
          <p:cNvPr id="6" name="prio-2"/>
          <p:cNvSpPr/>
          <p:nvPr/>
        </p:nvSpPr>
        <p:spPr>
          <a:xfrm>
            <a:off x="548640" y="2514600"/>
            <a:ext cx="452628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51460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bg1"/>
                </a:solidFill>
              </a:rPr>
              <a:t>2</a:t>
            </a:r>
            <a:endParaRPr lang="zh-TW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60604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700" b="1" dirty="0">
                <a:solidFill>
                  <a:schemeClr val="bg1"/>
                </a:solidFill>
              </a:rPr>
              <a:t>家中住宅 IP</a:t>
            </a:r>
            <a:endParaRPr lang="zh-TW" sz="1600" dirty="0"/>
          </a:p>
          <a:p>
            <a:pPr indent="0" marL="0">
              <a:buNone/>
            </a:pPr>
            <a:r>
              <a:rPr lang="zh-TW" altLang="en-US" sz="1200" dirty="0">
                <a:solidFill>
                  <a:schemeClr val="bg1"/>
                </a:solidFill>
              </a:rPr>
              <a:t>被封就整個系統停擺</a:t>
            </a:r>
            <a:endParaRPr lang="zh-TW" sz="1600" dirty="0"/>
          </a:p>
        </p:txBody>
      </p:sp>
      <p:sp>
        <p:nvSpPr>
          <p:cNvPr id="9" name="prio-3"/>
          <p:cNvSpPr/>
          <p:nvPr/>
        </p:nvSpPr>
        <p:spPr>
          <a:xfrm>
            <a:off x="548640" y="3566160"/>
            <a:ext cx="4114800" cy="9144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56616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1"/>
                </a:solidFill>
              </a:rPr>
              <a:t>3</a:t>
            </a:r>
            <a:endParaRPr lang="zh-TW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6576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700" b="1" dirty="0">
                <a:solidFill>
                  <a:schemeClr val="tx1"/>
                </a:solidFill>
              </a:rPr>
              <a:t>雲端 IP</a:t>
            </a:r>
            <a:endParaRPr lang="zh-TW" sz="1600" dirty="0"/>
          </a:p>
          <a:p>
            <a:pPr indent="0" marL="0">
              <a:buNone/>
            </a:pPr>
            <a:r>
              <a:rPr lang="zh-TW" altLang="en-US" sz="1200" dirty="0">
                <a:solidFill>
                  <a:schemeClr val="tx1"/>
                </a:solidFill>
              </a:rPr>
              <a:t>被擋可以換，不牽連帳號與家中 IP</a:t>
            </a:r>
            <a:endParaRPr lang="zh-TW" sz="1600" dirty="0"/>
          </a:p>
        </p:txBody>
      </p:sp>
      <p:sp>
        <p:nvSpPr>
          <p:cNvPr id="12" name="prio-4"/>
          <p:cNvSpPr/>
          <p:nvPr/>
        </p:nvSpPr>
        <p:spPr>
          <a:xfrm>
            <a:off x="548640" y="4617720"/>
            <a:ext cx="3703320" cy="9144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461772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1"/>
                </a:solidFill>
              </a:rPr>
              <a:t>4</a:t>
            </a:r>
            <a:endParaRPr lang="zh-TW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7091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700" b="1" dirty="0">
                <a:solidFill>
                  <a:schemeClr val="tx1"/>
                </a:solidFill>
              </a:rPr>
              <a:t>功能完整度</a:t>
            </a:r>
            <a:endParaRPr lang="zh-TW" sz="1600" dirty="0"/>
          </a:p>
          <a:p>
            <a:pPr indent="0" marL="0">
              <a:buNone/>
            </a:pPr>
            <a:r>
              <a:rPr lang="zh-TW" altLang="en-US" sz="1200" dirty="0">
                <a:solidFill>
                  <a:schemeClr val="tx1"/>
                </a:solidFill>
              </a:rPr>
              <a:t>少抓幾筆職缺，明天還有</a:t>
            </a:r>
            <a:endParaRPr lang="zh-TW" sz="1600" dirty="0"/>
          </a:p>
        </p:txBody>
      </p:sp>
      <p:sp>
        <p:nvSpPr>
          <p:cNvPr id="15" name="icon-bg-g-FaBan"/>
          <p:cNvSpPr/>
          <p:nvPr/>
        </p:nvSpPr>
        <p:spPr>
          <a:xfrm>
            <a:off x="6035040" y="1417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-g-FaBan" descr="g-FaB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0770" y="1543050"/>
            <a:ext cx="251460" cy="25146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6720840" y="137160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不登入</a:t>
            </a:r>
            <a:endParaRPr lang="zh-TW" sz="1600" dirty="0"/>
          </a:p>
          <a:p>
            <a:pPr indent="0" marL="0">
              <a:spcAft>
                <a:spcPts val="200"/>
              </a:spcAft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目標資料對訪客完全公開；設定檔出現 password 欄位就拒絕啟動</a:t>
            </a:r>
            <a:endParaRPr lang="zh-TW" sz="1600" dirty="0"/>
          </a:p>
        </p:txBody>
      </p:sp>
      <p:sp>
        <p:nvSpPr>
          <p:cNvPr id="18" name="icon-bg-g-FaShieldHalved"/>
          <p:cNvSpPr/>
          <p:nvPr/>
        </p:nvSpPr>
        <p:spPr>
          <a:xfrm>
            <a:off x="6035040" y="23317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con-g-FaShieldHalved" descr="g-FaShieldHalv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0770" y="2457450"/>
            <a:ext cx="251460" cy="25146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6720840" y="228600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單一守門員</a:t>
            </a:r>
            <a:endParaRPr lang="zh-TW" sz="1600" dirty="0"/>
          </a:p>
          <a:p>
            <a:pPr indent="0" marL="0">
              <a:spcAft>
                <a:spcPts val="200"/>
              </a:spcAft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每個請求都要先過 RequestBudget.acquire()：黑名單、預算、節流、計數</a:t>
            </a:r>
            <a:endParaRPr lang="zh-TW" sz="1600" dirty="0"/>
          </a:p>
        </p:txBody>
      </p:sp>
      <p:sp>
        <p:nvSpPr>
          <p:cNvPr id="21" name="icon-bg-g-FaGaugeHigh"/>
          <p:cNvSpPr/>
          <p:nvPr/>
        </p:nvSpPr>
        <p:spPr>
          <a:xfrm>
            <a:off x="6035040" y="32461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con-g-FaGaugeHigh" descr="g-FaGaugeHig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0770" y="3371850"/>
            <a:ext cx="251460" cy="25146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720840" y="320040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上限只能往保守調</a:t>
            </a:r>
            <a:endParaRPr lang="zh-TW" sz="1600" dirty="0"/>
          </a:p>
          <a:p>
            <a:pPr indent="0" marL="0">
              <a:spcAft>
                <a:spcPts val="200"/>
              </a:spcAft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頁數、詳細頁、總請求數有寫死的硬上限，超過就拒絕啟動</a:t>
            </a:r>
            <a:endParaRPr lang="zh-TW" sz="1600" dirty="0"/>
          </a:p>
        </p:txBody>
      </p:sp>
      <p:sp>
        <p:nvSpPr>
          <p:cNvPr id="24" name="icon-bg-g-FaPlugCircleXmark"/>
          <p:cNvSpPr/>
          <p:nvPr/>
        </p:nvSpPr>
        <p:spPr>
          <a:xfrm>
            <a:off x="6035040" y="41605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con-g-FaPlugCircleXmark" descr="g-FaPlugCircleXmar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0770" y="4286250"/>
            <a:ext cx="251460" cy="25146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720840" y="411480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遇封鎖立刻停、不重試</a:t>
            </a:r>
            <a:endParaRPr lang="zh-TW" sz="1600" dirty="0"/>
          </a:p>
          <a:p>
            <a:pPr indent="0" marL="0">
              <a:spcAft>
                <a:spcPts val="200"/>
              </a:spcAft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429 / 503 / 驗證頁 → 中止並熔斷</a:t>
            </a:r>
            <a:endParaRPr lang="zh-TW" sz="1600" dirty="0"/>
          </a:p>
        </p:txBody>
      </p:sp>
      <p:sp>
        <p:nvSpPr>
          <p:cNvPr id="27" name="icon-bg-g-FaStopwatch"/>
          <p:cNvSpPr/>
          <p:nvPr/>
        </p:nvSpPr>
        <p:spPr>
          <a:xfrm>
            <a:off x="6035040" y="5074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8" name="icon-g-FaStopwatch" descr="g-FaStopwatc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0770" y="5200650"/>
            <a:ext cx="251460" cy="25146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720840" y="502920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全程序列、不併發</a:t>
            </a:r>
            <a:endParaRPr lang="zh-TW" sz="1600" dirty="0"/>
          </a:p>
          <a:p>
            <a:pPr indent="0" marL="0">
              <a:spcAft>
                <a:spcPts val="200"/>
              </a:spcAft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請求間隔至少 3 秒；單次執行最多 40 個請求</a:t>
            </a:r>
            <a:endParaRPr lang="zh-TW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E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同樣是 403，處置剛好相反</a:t>
            </a:r>
            <a:endParaRPr lang="en-US" sz="3000" dirty="0"/>
          </a:p>
        </p:txBody>
      </p:sp>
      <p:sp>
        <p:nvSpPr>
          <p:cNvPr id="3" name="403-0"/>
          <p:cNvSpPr/>
          <p:nvPr/>
        </p:nvSpPr>
        <p:spPr>
          <a:xfrm>
            <a:off x="548640" y="1463040"/>
            <a:ext cx="5394960" cy="3063240"/>
          </a:xfrm>
          <a:prstGeom prst="roundRect">
            <a:avLst>
              <a:gd name="adj" fmla="val 2388"/>
            </a:avLst>
          </a:prstGeom>
          <a:solidFill>
            <a:schemeClr val="bg2"/>
          </a:solidFill>
          <a:ln/>
        </p:spPr>
      </p:sp>
      <p:sp>
        <p:nvSpPr>
          <p:cNvPr id="4" name="icon-bg-403-0"/>
          <p:cNvSpPr/>
          <p:nvPr/>
        </p:nvSpPr>
        <p:spPr>
          <a:xfrm>
            <a:off x="868680" y="178308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con-403-0" descr="403-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9659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755648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100" b="1" dirty="0">
                <a:solidFill>
                  <a:schemeClr val="tx1"/>
                </a:solidFill>
              </a:rPr>
              <a:t>403 + 回應是空的</a:t>
            </a:r>
            <a:endParaRPr lang="zh-TW" sz="1600" dirty="0"/>
          </a:p>
          <a:p>
            <a:pPr indent="0" marL="0">
              <a:buNone/>
            </a:pPr>
            <a:r>
              <a:rPr lang="zh-TW" altLang="en-US" sz="1500" dirty="0">
                <a:solidFill>
                  <a:schemeClr val="accent6"/>
                </a:solidFill>
              </a:rPr>
              <a:t>我方設定錯了（Referer 掉了）</a:t>
            </a:r>
            <a:endParaRPr lang="zh-TW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880360"/>
            <a:ext cx="4663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zh-TW" altLang="en-US" sz="1600" dirty="0">
                <a:solidFill>
                  <a:schemeClr val="tx1"/>
                </a:solidFill>
              </a:rPr>
              <a:t>丟 SourceMisconfigured</a:t>
            </a:r>
            <a:endParaRPr lang="zh-TW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zh-TW" altLang="en-US" sz="1600" dirty="0">
                <a:solidFill>
                  <a:schemeClr val="tx1"/>
                </a:solidFill>
              </a:rPr>
              <a:t>告警，請人檢查設定</a:t>
            </a:r>
            <a:endParaRPr lang="zh-TW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zh-TW" altLang="en-US" sz="1600" dirty="0">
                <a:solidFill>
                  <a:schemeClr val="tx1"/>
                </a:solidFill>
              </a:rPr>
              <a:t>不熔斷 —— 冷卻 24 小時對設定錯誤毫無幫助</a:t>
            </a:r>
            <a:endParaRPr lang="zh-TW" sz="1600" dirty="0"/>
          </a:p>
        </p:txBody>
      </p:sp>
      <p:sp>
        <p:nvSpPr>
          <p:cNvPr id="8" name="403-1"/>
          <p:cNvSpPr/>
          <p:nvPr/>
        </p:nvSpPr>
        <p:spPr>
          <a:xfrm>
            <a:off x="6217920" y="1463040"/>
            <a:ext cx="5394960" cy="3063240"/>
          </a:xfrm>
          <a:prstGeom prst="roundRect">
            <a:avLst>
              <a:gd name="adj" fmla="val 2388"/>
            </a:avLst>
          </a:prstGeom>
          <a:solidFill>
            <a:schemeClr val="bg2"/>
          </a:solidFill>
          <a:ln/>
        </p:spPr>
      </p:sp>
      <p:sp>
        <p:nvSpPr>
          <p:cNvPr id="9" name="icon-bg-403-1"/>
          <p:cNvSpPr/>
          <p:nvPr/>
        </p:nvSpPr>
        <p:spPr>
          <a:xfrm>
            <a:off x="6537960" y="178308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con-403-1" descr="403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9659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52360" y="1755648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100" b="1" dirty="0">
                <a:solidFill>
                  <a:schemeClr val="tx1"/>
                </a:solidFill>
              </a:rPr>
              <a:t>403 + 驗證頁 / 429 / 503</a:t>
            </a:r>
            <a:endParaRPr lang="zh-TW" sz="1600" dirty="0"/>
          </a:p>
          <a:p>
            <a:pPr indent="0" marL="0">
              <a:buNone/>
            </a:pPr>
            <a:r>
              <a:rPr lang="zh-TW" altLang="en-US" sz="1500" dirty="0">
                <a:solidFill>
                  <a:schemeClr val="accent6"/>
                </a:solidFill>
              </a:rPr>
              <a:t>對方真的上防護了</a:t>
            </a:r>
            <a:endParaRPr lang="zh-TW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583680" y="2880360"/>
            <a:ext cx="4663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zh-TW" altLang="en-US" sz="1600" dirty="0">
                <a:solidFill>
                  <a:schemeClr val="tx1"/>
                </a:solidFill>
              </a:rPr>
              <a:t>丟 ChallengeBlocked，立刻中止</a:t>
            </a:r>
            <a:endParaRPr lang="zh-TW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zh-TW" altLang="en-US" sz="1600" dirty="0">
                <a:solidFill>
                  <a:schemeClr val="tx1"/>
                </a:solidFill>
              </a:rPr>
              <a:t>熔斷：第 1 次冷卻 24h、第 2 次 72h</a:t>
            </a:r>
            <a:endParaRPr lang="zh-TW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zh-TW" altLang="en-US" sz="1600" dirty="0">
                <a:solidFill>
                  <a:schemeClr val="tx1"/>
                </a:solidFill>
              </a:rPr>
              <a:t>第 3 次起要人工解除（reset-circuit）</a:t>
            </a:r>
            <a:endParaRPr lang="zh-TW" sz="1600" dirty="0"/>
          </a:p>
        </p:txBody>
      </p:sp>
      <p:sp>
        <p:nvSpPr>
          <p:cNvPr id="13" name="403-how"/>
          <p:cNvSpPr/>
          <p:nvPr/>
        </p:nvSpPr>
        <p:spPr>
          <a:xfrm>
            <a:off x="548640" y="4754880"/>
            <a:ext cx="11064240" cy="960120"/>
          </a:xfrm>
          <a:prstGeom prst="roundRect">
            <a:avLst>
              <a:gd name="adj" fmla="val 7619"/>
            </a:avLst>
          </a:prstGeom>
          <a:solidFill>
            <a:schemeClr val="tx1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68680" y="475488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accent2"/>
                </a:solidFill>
              </a:rPr>
              <a:t>怎麼分辨：</a:t>
            </a:r>
            <a:pPr indent="0" marL="0">
              <a:buNone/>
            </a:pPr>
            <a:r>
              <a:rPr lang="zh-TW" altLang="en-US" sz="1600" dirty="0">
                <a:solidFill>
                  <a:schemeClr val="bg1"/>
                </a:solidFill>
              </a:rPr>
              <a:t>只能看回應本身。診斷指令只發一個請求，把狀態碼、cf-mitigated 標頭和 body 全部印出來。</a:t>
            </a:r>
            <a:endParaRPr lang="zh-TW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100" i="1" dirty="0">
                <a:solidFill>
                  <a:schemeClr val="accent6"/>
                </a:solidFill>
              </a:rPr>
              <a:t>瀏覽器路徑讀不到回應內容時，一律當成被擋（fail-closed）；只有純 HTTP 路徑能做這個分流（scrape/blocking.py）</a:t>
            </a:r>
            <a:endParaRPr lang="zh-TW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E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品質靠測試和 hook 守住，不靠記憶</a:t>
            </a:r>
            <a:endParaRPr lang="en-US" sz="3000" dirty="0"/>
          </a:p>
        </p:txBody>
      </p:sp>
      <p:sp>
        <p:nvSpPr>
          <p:cNvPr id="3" name="q-0"/>
          <p:cNvSpPr/>
          <p:nvPr/>
        </p:nvSpPr>
        <p:spPr>
          <a:xfrm>
            <a:off x="548640" y="1463040"/>
            <a:ext cx="3502152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4400" b="1" dirty="0">
                <a:solidFill>
                  <a:schemeClr val="accent1"/>
                </a:solidFill>
              </a:rPr>
              <a:t>674</a:t>
            </a:r>
            <a:endParaRPr lang="zh-TW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6032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個自動化測試</a:t>
            </a:r>
            <a:endParaRPr lang="zh-TW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全部離線，跑錄下來的真實 104 回應</a:t>
            </a:r>
            <a:endParaRPr lang="zh-TW" sz="1300" dirty="0"/>
          </a:p>
        </p:txBody>
      </p:sp>
      <p:sp>
        <p:nvSpPr>
          <p:cNvPr id="7" name="q-1"/>
          <p:cNvSpPr/>
          <p:nvPr/>
        </p:nvSpPr>
        <p:spPr>
          <a:xfrm>
            <a:off x="4325112" y="1463040"/>
            <a:ext cx="3502152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99432" y="1691640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4400" b="1" dirty="0">
                <a:solidFill>
                  <a:schemeClr val="accent1"/>
                </a:solidFill>
              </a:rPr>
              <a:t>11,286</a:t>
            </a:r>
            <a:endParaRPr lang="zh-TW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4599432" y="256032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行 Python 程式</a:t>
            </a:r>
            <a:endParaRPr lang="zh-TW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99432" y="292608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另有 6,428 行測試（含註解）</a:t>
            </a:r>
            <a:endParaRPr lang="zh-TW" sz="1300" dirty="0"/>
          </a:p>
        </p:txBody>
      </p:sp>
      <p:sp>
        <p:nvSpPr>
          <p:cNvPr id="11" name="q-2"/>
          <p:cNvSpPr/>
          <p:nvPr/>
        </p:nvSpPr>
        <p:spPr>
          <a:xfrm>
            <a:off x="8101584" y="1463040"/>
            <a:ext cx="3502152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75904" y="1691640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4400" b="1" dirty="0">
                <a:solidFill>
                  <a:schemeClr val="accent1"/>
                </a:solidFill>
              </a:rPr>
              <a:t>2 層</a:t>
            </a:r>
            <a:endParaRPr lang="zh-TW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8375904" y="256032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git hook 祕密掃描</a:t>
            </a:r>
            <a:endParaRPr lang="zh-TW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75904" y="292608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commit 前、push 前各掃一次</a:t>
            </a:r>
            <a:endParaRPr lang="zh-TW" sz="1300" dirty="0"/>
          </a:p>
        </p:txBody>
      </p:sp>
      <p:sp>
        <p:nvSpPr>
          <p:cNvPr id="15" name="q-story"/>
          <p:cNvSpPr/>
          <p:nvPr/>
        </p:nvSpPr>
        <p:spPr>
          <a:xfrm>
            <a:off x="548640" y="3840480"/>
            <a:ext cx="11064240" cy="1828800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/>
        </p:spPr>
      </p:sp>
      <p:sp>
        <p:nvSpPr>
          <p:cNvPr id="16" name="icon-bg-q-story"/>
          <p:cNvSpPr/>
          <p:nvPr/>
        </p:nvSpPr>
        <p:spPr>
          <a:xfrm>
            <a:off x="868680" y="416052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con-q-story" descr="q-sto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4331970"/>
            <a:ext cx="342900" cy="34290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828800" y="3977640"/>
            <a:ext cx="9509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zh-TW" altLang="en-US" sz="1800" b="1" dirty="0">
                <a:solidFill>
                  <a:schemeClr val="bg1"/>
                </a:solidFill>
              </a:rPr>
              <a:t>規則來自真實事故，例如：</a:t>
            </a:r>
            <a:endParaRPr lang="zh-TW" sz="1600" dirty="0"/>
          </a:p>
          <a:p>
            <a:pPr indent="0" marL="0">
              <a:spcAft>
                <a:spcPts val="600"/>
              </a:spcAft>
              <a:buNone/>
            </a:pPr>
            <a:r>
              <a:rPr lang="zh-TW" altLang="en-US" sz="1500" dirty="0">
                <a:solidFill>
                  <a:srgbClr val="B7C6CE"/>
                </a:solidFill>
              </a:rPr>
              <a:t>有個腳本沒寫 argparse，測試跑 --help 時整支被執行，真的送出了 6 則 Telegram 訊息。現在 tests/test_scripts.py 會檢查每支腳本的 --help 印得出 usage。</a:t>
            </a:r>
            <a:endParaRPr lang="zh-TW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100" i="1" dirty="0">
                <a:solidFill>
                  <a:schemeClr val="accent6"/>
                </a:solidFill>
              </a:rPr>
              <a:t>測試數：pytest --collect-only(2026-10-25)；行數：src/ 與 tests/ 下 .py 檔的 wc -l</a:t>
            </a:r>
            <a:endParaRPr lang="zh-TW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E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200" b="1" dirty="0">
                <a:solidFill>
                  <a:schemeClr val="accent2"/>
                </a:solidFill>
              </a:rPr>
              <a:t>04</a:t>
            </a:r>
            <a:endParaRPr lang="zh-TW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5146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我怎麼跟 AI 協作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118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程式大部分是 Claude Code 寫的；我的工作是讓它寫對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AI 寫程式，我負責定義什麼算對</a:t>
            </a:r>
            <a:endParaRPr lang="en-US" sz="3000" dirty="0"/>
          </a:p>
        </p:txBody>
      </p:sp>
      <p:sp>
        <p:nvSpPr>
          <p:cNvPr id="3" name="ai-stat"/>
          <p:cNvSpPr/>
          <p:nvPr/>
        </p:nvSpPr>
        <p:spPr>
          <a:xfrm>
            <a:off x="548640" y="1463040"/>
            <a:ext cx="3108960" cy="3657600"/>
          </a:xfrm>
          <a:prstGeom prst="roundRect">
            <a:avLst>
              <a:gd name="adj" fmla="val 2353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9202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4000" b="1" dirty="0">
                <a:solidFill>
                  <a:schemeClr val="accent2"/>
                </a:solidFill>
              </a:rPr>
              <a:t>&gt; 90%</a:t>
            </a:r>
            <a:endParaRPr lang="zh-TW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9260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dirty="0">
                <a:solidFill>
                  <a:schemeClr val="bg1"/>
                </a:solidFill>
              </a:rPr>
              <a:t>的 commit 標註</a:t>
            </a:r>
            <a:endParaRPr lang="zh-TW" sz="1500" dirty="0"/>
          </a:p>
          <a:p>
            <a:pPr algn="ctr" indent="0" marL="0">
              <a:buNone/>
            </a:pPr>
            <a:r>
              <a:rPr lang="zh-TW" altLang="en-US" sz="1500" dirty="0">
                <a:solidFill>
                  <a:schemeClr val="bg1"/>
                </a:solidFill>
              </a:rPr>
              <a:t>Claude Code 共同作者</a:t>
            </a:r>
            <a:endParaRPr lang="zh-TW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617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B7C6CE"/>
                </a:solidFill>
              </a:rPr>
              <a:t>git log（100 多個 commit,2026-10-25）</a:t>
            </a:r>
            <a:endParaRPr lang="zh-TW" sz="1100" dirty="0"/>
          </a:p>
        </p:txBody>
      </p:sp>
      <p:sp>
        <p:nvSpPr>
          <p:cNvPr id="7" name="ai-0"/>
          <p:cNvSpPr/>
          <p:nvPr/>
        </p:nvSpPr>
        <p:spPr>
          <a:xfrm>
            <a:off x="3931920" y="1463040"/>
            <a:ext cx="2514600" cy="3657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8" name="icon-bg-ai-0"/>
          <p:cNvSpPr/>
          <p:nvPr/>
        </p:nvSpPr>
        <p:spPr>
          <a:xfrm>
            <a:off x="416052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on-ai-0" descr="ai-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82880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160520" y="23774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700" b="1" dirty="0">
                <a:solidFill>
                  <a:schemeClr val="tx1"/>
                </a:solidFill>
              </a:rPr>
              <a:t>規則寫進 repo</a:t>
            </a:r>
            <a:endParaRPr lang="zh-TW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160520" y="310896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zh-TW" altLang="en-US" sz="1400" dirty="0">
                <a:solidFill>
                  <a:schemeClr val="tx1"/>
                </a:solidFill>
              </a:rPr>
              <a:t>SPEC.md：驗收標準</a:t>
            </a:r>
            <a:endParaRPr lang="zh-TW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zh-TW" altLang="en-US" sz="1400" dirty="0">
                <a:solidFill>
                  <a:schemeClr val="tx1"/>
                </a:solidFill>
              </a:rPr>
              <a:t>CLAUDE.md：禁止事項與 API 實測</a:t>
            </a:r>
            <a:endParaRPr lang="zh-TW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zh-TW" altLang="en-US" sz="1400" dirty="0">
                <a:solidFill>
                  <a:schemeClr val="tx1"/>
                </a:solidFill>
              </a:rPr>
              <a:t>ADR：決策與理由</a:t>
            </a:r>
            <a:endParaRPr lang="zh-TW" sz="1400" dirty="0"/>
          </a:p>
        </p:txBody>
      </p:sp>
      <p:sp>
        <p:nvSpPr>
          <p:cNvPr id="12" name="ai-1"/>
          <p:cNvSpPr/>
          <p:nvPr/>
        </p:nvSpPr>
        <p:spPr>
          <a:xfrm>
            <a:off x="6629400" y="1463040"/>
            <a:ext cx="2514600" cy="3657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13" name="icon-bg-ai-1"/>
          <p:cNvSpPr/>
          <p:nvPr/>
        </p:nvSpPr>
        <p:spPr>
          <a:xfrm>
            <a:off x="685800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-ai-1" descr="ai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82880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858000" y="23774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700" b="1" dirty="0">
                <a:solidFill>
                  <a:schemeClr val="tx1"/>
                </a:solidFill>
              </a:rPr>
              <a:t>重要規則用程式再擋一次</a:t>
            </a:r>
            <a:endParaRPr lang="zh-TW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6858000" y="310896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zh-TW" altLang="en-US" sz="1400" dirty="0">
                <a:solidFill>
                  <a:schemeClr val="tx1"/>
                </a:solidFill>
              </a:rPr>
              <a:t>寫成測試</a:t>
            </a:r>
            <a:endParaRPr lang="zh-TW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zh-TW" altLang="en-US" sz="1400" dirty="0">
                <a:solidFill>
                  <a:schemeClr val="tx1"/>
                </a:solidFill>
              </a:rPr>
              <a:t>git hook 掃祕密</a:t>
            </a:r>
            <a:endParaRPr lang="zh-TW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zh-TW" altLang="en-US" sz="1400" dirty="0">
                <a:solidFill>
                  <a:schemeClr val="tx1"/>
                </a:solidFill>
              </a:rPr>
              <a:t>Claude Code hook 擋下危險指令</a:t>
            </a:r>
            <a:endParaRPr lang="zh-TW" sz="1400" dirty="0"/>
          </a:p>
        </p:txBody>
      </p:sp>
      <p:sp>
        <p:nvSpPr>
          <p:cNvPr id="17" name="ai-2"/>
          <p:cNvSpPr/>
          <p:nvPr/>
        </p:nvSpPr>
        <p:spPr>
          <a:xfrm>
            <a:off x="9326880" y="1463040"/>
            <a:ext cx="2514600" cy="3657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18" name="icon-bg-ai-2"/>
          <p:cNvSpPr/>
          <p:nvPr/>
        </p:nvSpPr>
        <p:spPr>
          <a:xfrm>
            <a:off x="9555480" y="16916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icon-ai-2" descr="ai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182880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555480" y="23774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700" b="1" dirty="0">
                <a:solidFill>
                  <a:schemeClr val="tx1"/>
                </a:solidFill>
              </a:rPr>
              <a:t>我不交給 AI 的事</a:t>
            </a:r>
            <a:endParaRPr lang="zh-TW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9555480" y="310896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zh-TW" altLang="en-US" sz="1400" dirty="0">
                <a:solidFill>
                  <a:schemeClr val="tx1"/>
                </a:solidFill>
              </a:rPr>
              <a:t>風險的優先順序</a:t>
            </a:r>
            <a:endParaRPr lang="zh-TW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zh-TW" altLang="en-US" sz="1400" dirty="0">
                <a:solidFill>
                  <a:schemeClr val="tx1"/>
                </a:solidFill>
              </a:rPr>
              <a:t>評分的判準與核心條件</a:t>
            </a:r>
            <a:endParaRPr lang="zh-TW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zh-TW" altLang="en-US" sz="1400" dirty="0">
                <a:solidFill>
                  <a:schemeClr val="tx1"/>
                </a:solidFill>
              </a:rPr>
              <a:t>金鑰與憑證</a:t>
            </a:r>
            <a:endParaRPr lang="zh-TW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E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修正過的做法：從寫細計畫，改成小步驗證</a:t>
            </a:r>
            <a:endParaRPr lang="en-US" sz="3000" dirty="0"/>
          </a:p>
        </p:txBody>
      </p:sp>
      <p:sp>
        <p:nvSpPr>
          <p:cNvPr id="3" name="old"/>
          <p:cNvSpPr/>
          <p:nvPr/>
        </p:nvSpPr>
        <p:spPr>
          <a:xfrm>
            <a:off x="548640" y="1463040"/>
            <a:ext cx="5120640" cy="36576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tx1"/>
                </a:solidFill>
              </a:rPr>
              <a:t>一開始</a:t>
            </a:r>
            <a:endParaRPr lang="zh-TW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accent6"/>
                </a:solidFill>
              </a:rPr>
              <a:t>AI 追問需求 → 寫細規格與計畫 → 照計畫實作</a:t>
            </a:r>
            <a:endParaRPr lang="zh-TW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zh-TW" altLang="en-US" sz="1500" dirty="0">
                <a:solidFill>
                  <a:schemeClr val="tx1"/>
                </a:solidFill>
              </a:rPr>
              <a:t>慢：時間花在把計畫寫細，很晚才看到真實結果</a:t>
            </a:r>
            <a:endParaRPr lang="zh-TW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zh-TW" altLang="en-US" sz="1500" dirty="0">
                <a:solidFill>
                  <a:schemeClr val="tx1"/>
                </a:solidFill>
              </a:rPr>
              <a:t>計畫越細，沒驗證過的推測越多，寫進去就被當成事實</a:t>
            </a:r>
            <a:endParaRPr lang="zh-TW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zh-TW" altLang="en-US" sz="1500" dirty="0">
                <a:solidFill>
                  <a:srgbClr val="C8473F"/>
                </a:solidFill>
              </a:rPr>
              <a:t>例：「104 有沒有 Cloudflare」錯判兩次；年資欄位多算 1 年，錯了一個月</a:t>
            </a:r>
            <a:endParaRPr lang="zh-TW" sz="1500" dirty="0"/>
          </a:p>
        </p:txBody>
      </p:sp>
      <p:sp>
        <p:nvSpPr>
          <p:cNvPr id="7" name="arrow2"/>
          <p:cNvSpPr/>
          <p:nvPr/>
        </p:nvSpPr>
        <p:spPr>
          <a:xfrm>
            <a:off x="5806440" y="3017520"/>
            <a:ext cx="548640" cy="5029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8" name="new"/>
          <p:cNvSpPr/>
          <p:nvPr/>
        </p:nvSpPr>
        <p:spPr>
          <a:xfrm>
            <a:off x="6492240" y="1463040"/>
            <a:ext cx="5120640" cy="3657600"/>
          </a:xfrm>
          <a:prstGeom prst="roundRect">
            <a:avLst>
              <a:gd name="adj" fmla="val 2000"/>
            </a:avLst>
          </a:prstGeom>
          <a:solidFill>
            <a:schemeClr val="accent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66560" y="1645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tx1"/>
                </a:solidFill>
              </a:rPr>
              <a:t>現在</a:t>
            </a:r>
            <a:endParaRPr lang="zh-TW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21488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tx2"/>
                </a:solidFill>
              </a:rPr>
              <a:t>每一輪只做一小段能跑的 → 看真實結果 → 再決定下一步</a:t>
            </a:r>
            <a:endParaRPr lang="zh-TW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288036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zh-TW" altLang="en-US" sz="1600" dirty="0">
                <a:solidFill>
                  <a:schemeClr val="tx1"/>
                </a:solidFill>
              </a:rPr>
              <a:t>計畫細到什麼程度，取決於已經確認了多少</a:t>
            </a:r>
            <a:endParaRPr lang="zh-TW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zh-TW" altLang="en-US" sz="1600" dirty="0">
                <a:solidFill>
                  <a:schemeClr val="tx1"/>
                </a:solidFill>
              </a:rPr>
              <a:t>下判斷前先看真實回應，不讓 AI 用推論的</a:t>
            </a:r>
            <a:endParaRPr lang="zh-TW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zh-TW" altLang="en-US" sz="1600" dirty="0">
                <a:solidFill>
                  <a:schemeClr val="tx1"/>
                </a:solidFill>
              </a:rPr>
              <a:t>拿掉的是步驟規定，驗收標準留著</a:t>
            </a:r>
            <a:endParaRPr lang="zh-TW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E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173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這個專案代表我能帶進團隊的東西</a:t>
            </a:r>
            <a:endParaRPr lang="en-US" sz="4000" dirty="0"/>
          </a:p>
        </p:txBody>
      </p:sp>
      <p:sp>
        <p:nvSpPr>
          <p:cNvPr id="3" name="close-0"/>
          <p:cNvSpPr/>
          <p:nvPr/>
        </p:nvSpPr>
        <p:spPr>
          <a:xfrm>
            <a:off x="731520" y="3246120"/>
            <a:ext cx="2560320" cy="2240280"/>
          </a:xfrm>
          <a:prstGeom prst="roundRect">
            <a:avLst>
              <a:gd name="adj" fmla="val 3265"/>
            </a:avLst>
          </a:prstGeom>
          <a:solidFill>
            <a:schemeClr val="tx2"/>
          </a:solidFill>
          <a:ln/>
        </p:spPr>
      </p:sp>
      <p:sp>
        <p:nvSpPr>
          <p:cNvPr id="4" name="icon-bg-close-0"/>
          <p:cNvSpPr/>
          <p:nvPr/>
        </p:nvSpPr>
        <p:spPr>
          <a:xfrm>
            <a:off x="960120" y="34747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close-0" descr="close-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6118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4114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bg1"/>
                </a:solidFill>
              </a:rPr>
              <a:t>資料工程</a:t>
            </a:r>
            <a:endParaRPr lang="zh-TW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544568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rgbClr val="C9D6DC"/>
                </a:solidFill>
              </a:rPr>
              <a:t>把未公開文件的 API 轉成穩定的資料模型；去重、可離線重跑</a:t>
            </a:r>
            <a:endParaRPr lang="zh-TW" sz="1300" dirty="0"/>
          </a:p>
        </p:txBody>
      </p:sp>
      <p:sp>
        <p:nvSpPr>
          <p:cNvPr id="8" name="close-1"/>
          <p:cNvSpPr/>
          <p:nvPr/>
        </p:nvSpPr>
        <p:spPr>
          <a:xfrm>
            <a:off x="3566160" y="3246120"/>
            <a:ext cx="2560320" cy="2240280"/>
          </a:xfrm>
          <a:prstGeom prst="roundRect">
            <a:avLst>
              <a:gd name="adj" fmla="val 3265"/>
            </a:avLst>
          </a:prstGeom>
          <a:solidFill>
            <a:schemeClr val="tx2"/>
          </a:solidFill>
          <a:ln/>
        </p:spPr>
      </p:sp>
      <p:sp>
        <p:nvSpPr>
          <p:cNvPr id="9" name="icon-bg-close-1"/>
          <p:cNvSpPr/>
          <p:nvPr/>
        </p:nvSpPr>
        <p:spPr>
          <a:xfrm>
            <a:off x="3794760" y="34747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-close-1" descr="close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36118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794760" y="4114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bg1"/>
                </a:solidFill>
              </a:rPr>
              <a:t>可靠性</a:t>
            </a:r>
            <a:endParaRPr lang="zh-TW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794760" y="4544568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rgbClr val="C9D6DC"/>
                </a:solidFill>
              </a:rPr>
              <a:t>護欄、熔斷、缺資料時降級並告警，不悄悄出錯</a:t>
            </a:r>
            <a:endParaRPr lang="zh-TW" sz="1300" dirty="0"/>
          </a:p>
        </p:txBody>
      </p:sp>
      <p:sp>
        <p:nvSpPr>
          <p:cNvPr id="13" name="close-2"/>
          <p:cNvSpPr/>
          <p:nvPr/>
        </p:nvSpPr>
        <p:spPr>
          <a:xfrm>
            <a:off x="6400800" y="3246120"/>
            <a:ext cx="2560320" cy="2240280"/>
          </a:xfrm>
          <a:prstGeom prst="roundRect">
            <a:avLst>
              <a:gd name="adj" fmla="val 3265"/>
            </a:avLst>
          </a:prstGeom>
          <a:solidFill>
            <a:schemeClr val="tx2"/>
          </a:solidFill>
          <a:ln/>
        </p:spPr>
      </p:sp>
      <p:sp>
        <p:nvSpPr>
          <p:cNvPr id="14" name="icon-bg-close-2"/>
          <p:cNvSpPr/>
          <p:nvPr/>
        </p:nvSpPr>
        <p:spPr>
          <a:xfrm>
            <a:off x="6629400" y="34747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-close-2" descr="close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36118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629400" y="4114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bg1"/>
                </a:solidFill>
              </a:rPr>
              <a:t>LLM 應用</a:t>
            </a:r>
            <a:endParaRPr lang="zh-TW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629400" y="4544568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rgbClr val="C9D6DC"/>
                </a:solidFill>
              </a:rPr>
              <a:t>批次控成本、程式端校正、換模型就重校</a:t>
            </a:r>
            <a:endParaRPr lang="zh-TW" sz="1300" dirty="0"/>
          </a:p>
        </p:txBody>
      </p:sp>
      <p:sp>
        <p:nvSpPr>
          <p:cNvPr id="18" name="close-3"/>
          <p:cNvSpPr/>
          <p:nvPr/>
        </p:nvSpPr>
        <p:spPr>
          <a:xfrm>
            <a:off x="9235440" y="3246120"/>
            <a:ext cx="2560320" cy="2240280"/>
          </a:xfrm>
          <a:prstGeom prst="roundRect">
            <a:avLst>
              <a:gd name="adj" fmla="val 3265"/>
            </a:avLst>
          </a:prstGeom>
          <a:solidFill>
            <a:schemeClr val="tx2"/>
          </a:solidFill>
          <a:ln/>
        </p:spPr>
      </p:sp>
      <p:sp>
        <p:nvSpPr>
          <p:cNvPr id="19" name="icon-bg-close-3"/>
          <p:cNvSpPr/>
          <p:nvPr/>
        </p:nvSpPr>
        <p:spPr>
          <a:xfrm>
            <a:off x="9464040" y="34747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icon-close-3" descr="close-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361188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464040" y="4114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bg1"/>
                </a:solidFill>
              </a:rPr>
              <a:t>工作方式</a:t>
            </a:r>
            <a:endParaRPr lang="zh-TW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9464040" y="4544568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rgbClr val="C9D6DC"/>
                </a:solidFill>
              </a:rPr>
              <a:t>先量測再下結論；用規則和測試讓 AI 寫對</a:t>
            </a:r>
            <a:endParaRPr lang="zh-TW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rgbClr val="B7C6CE"/>
                </a:solidFill>
              </a:rPr>
              <a:t>林芳義 Fang-Yi Lin · az045317@gmail.com · github.com/yiyiscode</a:t>
            </a:r>
            <a:endParaRPr lang="zh-TW" sz="1400" dirty="0"/>
          </a:p>
        </p:txBody>
      </p:sp>
      <p:sp>
        <p:nvSpPr>
          <p:cNvPr id="25" name="Text 0"/>
          <p:cNvSpPr/>
          <p:nvPr>
            <p:ph idx="101" type="body" hasCustomPrompt="1"/>
          </p:nvPr>
        </p:nvSpPr>
        <p:spPr>
          <a:xfrm>
            <a:off x="731520" y="30175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200" b="1" dirty="0">
                <a:solidFill>
                  <a:schemeClr val="accent2"/>
                </a:solidFill>
              </a:rPr>
              <a:t>附錄</a:t>
            </a:r>
            <a:endParaRPr lang="zh-TW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5146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技術細節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118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被追問時用：資料契約、守門員、模組邊界、模型遷移、數字口徑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104 API 實測欄位：別憑印象寫</a:t>
            </a:r>
            <a:endParaRPr lang="en-US" sz="3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920240"/>
                <a:gridCol w="3657600"/>
                <a:gridCol w="33832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欄位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直覺會以為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實際上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不處理的後果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jobNo vs 連結尾段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同一個 ID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兩個不同 ID；詳細頁 API 只吃連結尾段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拿 jobNo 打詳細頁回 404「職務不存在」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s10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看不懂的欄位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薪資類型：10 面議、50 月薪、60 年薪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把年薪 567,000 寫成「月薪 56 萬」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period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實際年資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年資 + 1（0 = 不拘、2 = 1 年以上）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每筆職缺多算 1 年（錯了一個月）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employeeCount = 0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 人的小公司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「暫不提供」；鴻海、華碩都填 0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大公司被規則層誤擋（26 筆）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coIndustry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用中文名稱比對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階層式代碼，比對前綴（1001006 半導體）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104 改名稱時過濾默默失效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100" i="1" dirty="0">
                <a:solidFill>
                  <a:schemeClr val="accent6"/>
                </a:solidFill>
              </a:rPr>
              <a:t>fixture 為 2026-08-21 錄下的真實回應；normalize.py 是唯一認識 104 JSON 結構的模組</a:t>
            </a:r>
            <a:endParaRPr lang="zh-TW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E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RequestBudget.acquire()：所有請求的唯一守門員</a:t>
            </a:r>
            <a:endParaRPr lang="en-US" sz="3000" dirty="0"/>
          </a:p>
        </p:txBody>
      </p:sp>
      <p:sp>
        <p:nvSpPr>
          <p:cNvPr id="3" name="acq-line"/>
          <p:cNvSpPr/>
          <p:nvPr/>
        </p:nvSpPr>
        <p:spPr>
          <a:xfrm>
            <a:off x="1234440" y="1965960"/>
            <a:ext cx="9509760" cy="0"/>
          </a:xfrm>
          <a:prstGeom prst="line">
            <a:avLst/>
          </a:prstGeom>
          <a:noFill/>
          <a:ln w="25400">
            <a:solidFill>
              <a:srgbClr val="6C8EA0"/>
            </a:solidFill>
            <a:prstDash val="solid"/>
            <a:tailEnd type="triangle"/>
          </a:ln>
        </p:spPr>
      </p:sp>
      <p:sp>
        <p:nvSpPr>
          <p:cNvPr id="4" name="icon-bg-acq-0"/>
          <p:cNvSpPr/>
          <p:nvPr/>
        </p:nvSpPr>
        <p:spPr>
          <a:xfrm>
            <a:off x="822960" y="15544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acq-0" descr="acq-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7602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28600" y="2514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黑名單</a:t>
            </a:r>
            <a:endParaRPr lang="zh-TW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228600" y="28803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應徵/收藏路徑</a:t>
            </a:r>
            <a:endParaRPr lang="zh-TW" sz="1300" dirty="0"/>
          </a:p>
          <a:p>
            <a:pPr algn="ctr" indent="0" marL="0"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robots.txt 禁用參數</a:t>
            </a:r>
            <a:endParaRPr lang="zh-TW" sz="1300" dirty="0"/>
          </a:p>
        </p:txBody>
      </p:sp>
      <p:sp>
        <p:nvSpPr>
          <p:cNvPr id="8" name="icon-bg-acq-1"/>
          <p:cNvSpPr/>
          <p:nvPr/>
        </p:nvSpPr>
        <p:spPr>
          <a:xfrm>
            <a:off x="3200400" y="15544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on-acq-1" descr="acq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140" y="176022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606040" y="2514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預算檢查</a:t>
            </a:r>
            <a:endParaRPr lang="zh-TW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2606040" y="28803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總導覽、詳細頁</a:t>
            </a:r>
            <a:endParaRPr lang="zh-TW" sz="1300" dirty="0"/>
          </a:p>
          <a:p>
            <a:pPr algn="ctr" indent="0" marL="0"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每關鍵字頁數</a:t>
            </a:r>
            <a:endParaRPr lang="zh-TW" sz="1300" dirty="0"/>
          </a:p>
        </p:txBody>
      </p:sp>
      <p:sp>
        <p:nvSpPr>
          <p:cNvPr id="12" name="icon-bg-acq-2"/>
          <p:cNvSpPr/>
          <p:nvPr/>
        </p:nvSpPr>
        <p:spPr>
          <a:xfrm>
            <a:off x="5577840" y="15544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-acq-2" descr="acq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3580" y="176022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983480" y="2514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強制節流</a:t>
            </a:r>
            <a:endParaRPr lang="zh-TW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983480" y="28803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隨機等待</a:t>
            </a:r>
            <a:endParaRPr lang="zh-TW" sz="1300" dirty="0"/>
          </a:p>
          <a:p>
            <a:pPr algn="ctr" indent="0" marL="0"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下限 3 秒</a:t>
            </a:r>
            <a:endParaRPr lang="zh-TW" sz="1300" dirty="0"/>
          </a:p>
        </p:txBody>
      </p:sp>
      <p:sp>
        <p:nvSpPr>
          <p:cNvPr id="16" name="icon-bg-acq-3"/>
          <p:cNvSpPr/>
          <p:nvPr/>
        </p:nvSpPr>
        <p:spPr>
          <a:xfrm>
            <a:off x="7955280" y="15544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-acq-3" descr="acq-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1020" y="176022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60920" y="2514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先計數</a:t>
            </a:r>
            <a:endParaRPr lang="zh-TW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7360920" y="28803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再放行</a:t>
            </a:r>
            <a:endParaRPr lang="zh-TW" sz="1300" dirty="0"/>
          </a:p>
          <a:p>
            <a:pPr algn="ctr" indent="0" marL="0"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例外也算一次</a:t>
            </a:r>
            <a:endParaRPr lang="zh-TW" sz="1300" dirty="0"/>
          </a:p>
        </p:txBody>
      </p:sp>
      <p:sp>
        <p:nvSpPr>
          <p:cNvPr id="20" name="icon-bg-acq-4"/>
          <p:cNvSpPr/>
          <p:nvPr/>
        </p:nvSpPr>
        <p:spPr>
          <a:xfrm>
            <a:off x="10332720" y="155448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con-acq-4" descr="acq-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8460" y="176022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738360" y="2514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放行</a:t>
            </a:r>
            <a:endParaRPr lang="zh-TW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9738360" y="28803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呼叫端才</a:t>
            </a:r>
            <a:endParaRPr lang="zh-TW" sz="1300" dirty="0"/>
          </a:p>
          <a:p>
            <a:pPr algn="ctr" indent="0" marL="0"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實際發請求</a:t>
            </a:r>
            <a:endParaRPr lang="zh-TW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31920"/>
          <a:ext cx="73152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194560"/>
                <a:gridCol w="21945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硬上限（程式寫死）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目前設定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每個關鍵字的頁數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每次執行的詳細頁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18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每次執行的總請求數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請求間隔下限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 秒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3–9 秒（依類型）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 17"/>
          <p:cNvSpPr txBox="1"/>
          <p:nvPr/>
        </p:nvSpPr>
        <p:spPr>
          <a:xfrm>
            <a:off x="8229600" y="397764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實測：</a:t>
            </a:r>
            <a:pPr indent="0" marL="0">
              <a:buNone/>
            </a:pPr>
            <a:r>
              <a:rPr lang="zh-TW" altLang="en-US" sz="1500" dirty="0">
                <a:solidFill>
                  <a:schemeClr val="tx1"/>
                </a:solidFill>
              </a:rPr>
              <a:t>每次執行平均 28.3 個請求，最高 40。上限確實有擋住。</a:t>
            </a:r>
            <a:endParaRPr lang="zh-TW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100" i="1" dirty="0">
                <a:solidFill>
                  <a:schemeClr val="accent6"/>
                </a:solidFill>
              </a:rPr>
              <a:t>src/jobfinder/scrape/budget.py:acquire();src/jobfinder/config.py 開頭的 HARD_* 常數；設定值超過硬上限就拒絕啟動</a:t>
            </a:r>
            <a:endParaRPr lang="zh-TW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E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模組邊界：對外 IO 全靠注入，外部格式只有一個模組認識</a:t>
            </a:r>
            <a:endParaRPr lang="en-US" sz="3000" dirty="0"/>
          </a:p>
        </p:txBody>
      </p:sp>
      <p:sp>
        <p:nvSpPr>
          <p:cNvPr id="3" name="mod-pipeline.py"/>
          <p:cNvSpPr/>
          <p:nvPr/>
        </p:nvSpPr>
        <p:spPr>
          <a:xfrm>
            <a:off x="548640" y="1554480"/>
            <a:ext cx="3291840" cy="1417320"/>
          </a:xfrm>
          <a:prstGeom prst="roundRect">
            <a:avLst>
              <a:gd name="adj" fmla="val 5161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zh-TW" altLang="en-US" sz="1800" b="1" dirty="0">
                <a:solidFill>
                  <a:schemeClr val="bg1"/>
                </a:solidFill>
              </a:rPr>
              <a:t>pipeline.py</a:t>
            </a:r>
            <a:endParaRPr lang="zh-TW" sz="1600" dirty="0"/>
          </a:p>
          <a:p>
            <a:pPr indent="0" marL="0">
              <a:spcAft>
                <a:spcPts val="400"/>
              </a:spcAft>
              <a:buNone/>
            </a:pPr>
            <a:r>
              <a:rPr lang="zh-TW" altLang="en-US" sz="1300" dirty="0">
                <a:solidFill>
                  <a:schemeClr val="bg1"/>
                </a:solidFill>
              </a:rPr>
              <a:t>唯一的流程編排</a:t>
            </a:r>
            <a:endParaRPr lang="zh-TW" sz="1600" dirty="0"/>
          </a:p>
          <a:p>
            <a:pPr indent="0" marL="0">
              <a:spcAft>
                <a:spcPts val="400"/>
              </a:spcAft>
              <a:buNone/>
            </a:pPr>
            <a:r>
              <a:rPr lang="zh-TW" altLang="en-US" sz="1300" dirty="0">
                <a:solidFill>
                  <a:schemeClr val="bg1"/>
                </a:solidFill>
              </a:rPr>
              <a:t>對外 IO 全靠注入</a:t>
            </a:r>
            <a:endParaRPr lang="zh-TW" sz="1600" dirty="0"/>
          </a:p>
        </p:txBody>
      </p:sp>
      <p:sp>
        <p:nvSpPr>
          <p:cNvPr id="5" name="mod-ports.py"/>
          <p:cNvSpPr/>
          <p:nvPr/>
        </p:nvSpPr>
        <p:spPr>
          <a:xfrm>
            <a:off x="4434840" y="1554480"/>
            <a:ext cx="3291840" cy="1417320"/>
          </a:xfrm>
          <a:prstGeom prst="roundRect">
            <a:avLst>
              <a:gd name="adj" fmla="val 5161"/>
            </a:avLst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663440" y="169164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zh-TW" altLang="en-US" sz="1800" b="1" dirty="0">
                <a:solidFill>
                  <a:schemeClr val="bg1"/>
                </a:solidFill>
              </a:rPr>
              <a:t>ports.py</a:t>
            </a:r>
            <a:endParaRPr lang="zh-TW" sz="1600" dirty="0"/>
          </a:p>
          <a:p>
            <a:pPr indent="0" marL="0">
              <a:spcAft>
                <a:spcPts val="400"/>
              </a:spcAft>
              <a:buNone/>
            </a:pPr>
            <a:r>
              <a:rPr lang="zh-TW" altLang="en-US" sz="1300" dirty="0">
                <a:solidFill>
                  <a:schemeClr val="bg1"/>
                </a:solidFill>
              </a:rPr>
              <a:t>JobSource / Scorer / Notifier</a:t>
            </a:r>
            <a:endParaRPr lang="zh-TW" sz="1600" dirty="0"/>
          </a:p>
          <a:p>
            <a:pPr indent="0" marL="0">
              <a:spcAft>
                <a:spcPts val="400"/>
              </a:spcAft>
              <a:buNone/>
            </a:pPr>
            <a:r>
              <a:rPr lang="zh-TW" altLang="en-US" sz="1300" dirty="0">
                <a:solidFill>
                  <a:schemeClr val="bg1"/>
                </a:solidFill>
              </a:rPr>
              <a:t>三個 Protocol</a:t>
            </a:r>
            <a:endParaRPr lang="zh-TW" sz="1600" dirty="0"/>
          </a:p>
        </p:txBody>
      </p:sp>
      <p:sp>
        <p:nvSpPr>
          <p:cNvPr id="7" name="mod-normalize.py"/>
          <p:cNvSpPr/>
          <p:nvPr/>
        </p:nvSpPr>
        <p:spPr>
          <a:xfrm>
            <a:off x="8321040" y="1554480"/>
            <a:ext cx="3291840" cy="1417320"/>
          </a:xfrm>
          <a:prstGeom prst="roundRect">
            <a:avLst>
              <a:gd name="adj" fmla="val 5161"/>
            </a:avLst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49640" y="169164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normalize.py</a:t>
            </a:r>
            <a:endParaRPr lang="zh-TW" sz="1600" dirty="0"/>
          </a:p>
          <a:p>
            <a:pPr indent="0" marL="0">
              <a:spcAft>
                <a:spcPts val="400"/>
              </a:spcAft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唯一認識 104 JSON 的地方</a:t>
            </a:r>
            <a:endParaRPr lang="zh-TW" sz="1600" dirty="0"/>
          </a:p>
          <a:p>
            <a:pPr indent="0" marL="0">
              <a:spcAft>
                <a:spcPts val="400"/>
              </a:spcAft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raw JSON → 領域模型</a:t>
            </a:r>
            <a:endParaRPr lang="zh-TW" sz="1600" dirty="0"/>
          </a:p>
        </p:txBody>
      </p:sp>
      <p:sp>
        <p:nvSpPr>
          <p:cNvPr id="9" name="mod-arrow1"/>
          <p:cNvSpPr/>
          <p:nvPr/>
        </p:nvSpPr>
        <p:spPr>
          <a:xfrm>
            <a:off x="3931920" y="2057400"/>
            <a:ext cx="411480" cy="41148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0" name="mod-arrow2"/>
          <p:cNvSpPr/>
          <p:nvPr/>
        </p:nvSpPr>
        <p:spPr>
          <a:xfrm>
            <a:off x="7818120" y="2057400"/>
            <a:ext cx="411480" cy="411480"/>
          </a:xfrm>
          <a:prstGeom prst="leftArrow">
            <a:avLst/>
          </a:prstGeom>
          <a:solidFill>
            <a:schemeClr val="accent4"/>
          </a:solidFill>
          <a:ln/>
        </p:spPr>
      </p:sp>
      <p:sp>
        <p:nvSpPr>
          <p:cNvPr id="11" name="impl-0"/>
          <p:cNvSpPr/>
          <p:nvPr/>
        </p:nvSpPr>
        <p:spPr>
          <a:xfrm>
            <a:off x="548640" y="3337560"/>
            <a:ext cx="352044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5204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JobSource 的實作</a:t>
            </a:r>
            <a:endParaRPr lang="zh-TW" sz="1600" dirty="0"/>
          </a:p>
          <a:p>
            <a:pPr indent="0" marL="0">
              <a:spcAft>
                <a:spcPts val="600"/>
              </a:spcAft>
              <a:buNone/>
            </a:pPr>
            <a:r>
              <a:rPr lang="zh-TW" altLang="en-US" sz="1400" dirty="0">
                <a:solidFill>
                  <a:schemeClr val="accent6"/>
                </a:solidFill>
              </a:rPr>
              <a:t>HttpJobSource（預設）</a:t>
            </a:r>
            <a:endParaRPr lang="zh-TW" sz="1600" dirty="0"/>
          </a:p>
          <a:p>
            <a:pPr indent="0" marL="0">
              <a:spcAft>
                <a:spcPts val="600"/>
              </a:spcAft>
              <a:buNone/>
            </a:pPr>
            <a:r>
              <a:rPr lang="zh-TW" altLang="en-US" sz="1400" dirty="0">
                <a:solidFill>
                  <a:schemeClr val="accent6"/>
                </a:solidFill>
              </a:rPr>
              <a:t>PlaywrightJobSource（瀏覽器備援）</a:t>
            </a:r>
            <a:endParaRPr lang="zh-TW" sz="1600" dirty="0"/>
          </a:p>
          <a:p>
            <a:pPr indent="0" marL="0">
              <a:spcAft>
                <a:spcPts val="600"/>
              </a:spcAft>
              <a:buNone/>
            </a:pPr>
            <a:r>
              <a:rPr lang="zh-TW" altLang="en-US" sz="1400" dirty="0">
                <a:solidFill>
                  <a:schemeClr val="accent6"/>
                </a:solidFill>
              </a:rPr>
              <a:t>FixtureSource（離線開發）</a:t>
            </a:r>
            <a:endParaRPr lang="zh-TW" sz="1600" dirty="0"/>
          </a:p>
        </p:txBody>
      </p:sp>
      <p:sp>
        <p:nvSpPr>
          <p:cNvPr id="13" name="impl-1"/>
          <p:cNvSpPr/>
          <p:nvPr/>
        </p:nvSpPr>
        <p:spPr>
          <a:xfrm>
            <a:off x="4434840" y="3337560"/>
            <a:ext cx="352044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63440" y="35204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Scorer 的實作</a:t>
            </a:r>
            <a:endParaRPr lang="zh-TW" sz="1600" dirty="0"/>
          </a:p>
          <a:p>
            <a:pPr indent="0" marL="0">
              <a:spcAft>
                <a:spcPts val="600"/>
              </a:spcAft>
              <a:buNone/>
            </a:pPr>
            <a:r>
              <a:rPr lang="zh-TW" altLang="en-US" sz="1400" dirty="0">
                <a:solidFill>
                  <a:schemeClr val="accent6"/>
                </a:solidFill>
              </a:rPr>
              <a:t>Claude 訂閱（優先）</a:t>
            </a:r>
            <a:endParaRPr lang="zh-TW" sz="1600" dirty="0"/>
          </a:p>
          <a:p>
            <a:pPr indent="0" marL="0">
              <a:spcAft>
                <a:spcPts val="600"/>
              </a:spcAft>
              <a:buNone/>
            </a:pPr>
            <a:r>
              <a:rPr lang="zh-TW" altLang="en-US" sz="1400" dirty="0">
                <a:solidFill>
                  <a:schemeClr val="accent6"/>
                </a:solidFill>
              </a:rPr>
              <a:t>失敗黏著退回 OpenRouter</a:t>
            </a:r>
            <a:endParaRPr lang="zh-TW" sz="1600" dirty="0"/>
          </a:p>
          <a:p>
            <a:pPr indent="0" marL="0">
              <a:spcAft>
                <a:spcPts val="600"/>
              </a:spcAft>
              <a:buNone/>
            </a:pPr>
            <a:r>
              <a:rPr lang="zh-TW" altLang="en-US" sz="1400" dirty="0">
                <a:solidFill>
                  <a:schemeClr val="accent6"/>
                </a:solidFill>
              </a:rPr>
              <a:t>Fake（測試用）</a:t>
            </a:r>
            <a:endParaRPr lang="zh-TW" sz="1600" dirty="0"/>
          </a:p>
        </p:txBody>
      </p:sp>
      <p:sp>
        <p:nvSpPr>
          <p:cNvPr id="15" name="impl-2"/>
          <p:cNvSpPr/>
          <p:nvPr/>
        </p:nvSpPr>
        <p:spPr>
          <a:xfrm>
            <a:off x="8321040" y="3337560"/>
            <a:ext cx="352044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49640" y="35204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Notifier 的實作</a:t>
            </a:r>
            <a:endParaRPr lang="zh-TW" sz="1600" dirty="0"/>
          </a:p>
          <a:p>
            <a:pPr indent="0" marL="0">
              <a:spcAft>
                <a:spcPts val="600"/>
              </a:spcAft>
              <a:buNone/>
            </a:pPr>
            <a:r>
              <a:rPr lang="zh-TW" altLang="en-US" sz="1400" dirty="0">
                <a:solidFill>
                  <a:schemeClr val="accent6"/>
                </a:solidFill>
              </a:rPr>
              <a:t>Telegram(HTML parse mode,</a:t>
            </a:r>
            <a:endParaRPr lang="zh-TW" sz="1600" dirty="0"/>
          </a:p>
          <a:p>
            <a:pPr indent="0" marL="0">
              <a:spcAft>
                <a:spcPts val="600"/>
              </a:spcAft>
              <a:buNone/>
            </a:pPr>
            <a:r>
              <a:rPr lang="zh-TW" altLang="en-US" sz="1400" dirty="0">
                <a:solidFill>
                  <a:schemeClr val="accent6"/>
                </a:solidFill>
              </a:rPr>
              <a:t>400 時降級純文字重送)</a:t>
            </a:r>
            <a:endParaRPr lang="zh-TW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E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評分模型遷移：Claude 優先，失敗整次退回 OpenRouter</a:t>
            </a:r>
            <a:endParaRPr lang="en-US" sz="3000" dirty="0"/>
          </a:p>
        </p:txBody>
      </p:sp>
      <p:sp>
        <p:nvSpPr>
          <p:cNvPr id="3" name="m-0"/>
          <p:cNvSpPr/>
          <p:nvPr/>
        </p:nvSpPr>
        <p:spPr>
          <a:xfrm>
            <a:off x="548640" y="1463040"/>
            <a:ext cx="3502152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3800" b="1" dirty="0">
                <a:solidFill>
                  <a:schemeClr val="accent1"/>
                </a:solidFill>
              </a:rPr>
              <a:t>484</a:t>
            </a:r>
            <a:endParaRPr lang="zh-TW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筆職缺已有 Claude 深評</a:t>
            </a:r>
            <a:endParaRPr lang="zh-TW" sz="1400" dirty="0"/>
          </a:p>
        </p:txBody>
      </p:sp>
      <p:sp>
        <p:nvSpPr>
          <p:cNvPr id="6" name="m-1"/>
          <p:cNvSpPr/>
          <p:nvPr/>
        </p:nvSpPr>
        <p:spPr>
          <a:xfrm>
            <a:off x="4325112" y="1463040"/>
            <a:ext cx="3502152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99432" y="16459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3800" b="1" dirty="0">
                <a:solidFill>
                  <a:schemeClr val="accent3"/>
                </a:solidFill>
              </a:rPr>
              <a:t>−18.3</a:t>
            </a:r>
            <a:endParaRPr lang="zh-TW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4599432" y="24688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分：Claude 比 Gemini 平均低（405 筆配對）</a:t>
            </a:r>
            <a:endParaRPr lang="zh-TW" sz="1400" dirty="0"/>
          </a:p>
        </p:txBody>
      </p:sp>
      <p:sp>
        <p:nvSpPr>
          <p:cNvPr id="9" name="m-2"/>
          <p:cNvSpPr/>
          <p:nvPr/>
        </p:nvSpPr>
        <p:spPr>
          <a:xfrm>
            <a:off x="8101584" y="1463040"/>
            <a:ext cx="3502152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75904" y="16459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3800" b="1" dirty="0">
                <a:solidFill>
                  <a:schemeClr val="accent2"/>
                </a:solidFill>
              </a:rPr>
              <a:t>80 → 60</a:t>
            </a:r>
            <a:endParaRPr lang="zh-TW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8375904" y="24688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門檻依 Claude 口徑重校；下限 60 → 50</a:t>
            </a:r>
            <a:endParaRPr lang="zh-TW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657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遷移步驟</a:t>
            </a:r>
            <a:endParaRPr lang="zh-TW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11480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zh-TW" altLang="en-US" sz="1500" dirty="0">
                <a:solidFill>
                  <a:schemeClr val="tx1"/>
                </a:solidFill>
              </a:rPr>
              <a:t>先用 10 筆實測額度、耗時與穩定度，再決定要不要全面切換</a:t>
            </a:r>
            <a:endParaRPr lang="zh-TW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zh-TW" altLang="en-US" sz="1500" dirty="0">
                <a:solidFill>
                  <a:schemeClr val="tx1"/>
                </a:solidFill>
              </a:rPr>
              <a:t>只重評有完整 JD 的職缺，分 3 天跑完；舊的 Gemini 分數保留做配對比較</a:t>
            </a:r>
            <a:endParaRPr lang="zh-TW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zh-TW" altLang="en-US" sz="1500" dirty="0">
                <a:solidFill>
                  <a:schemeClr val="tx1"/>
                </a:solidFill>
              </a:rPr>
              <a:t>依「想去程度」標記重校門檻，不沿用 Gemini 時代的分數區間</a:t>
            </a:r>
            <a:endParaRPr lang="zh-TW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zh-TW" altLang="en-US" sz="1500" dirty="0">
                <a:solidFill>
                  <a:schemeClr val="tx1"/>
                </a:solidFill>
              </a:rPr>
              <a:t>Claude 失敗或額度用完 → 該次執行剩下的全部改走 OpenRouter（黏著退回，不來回切換）</a:t>
            </a:r>
            <a:endParaRPr lang="zh-TW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100" i="1" dirty="0">
                <a:solidFill>
                  <a:schemeClr val="accent6"/>
                </a:solidFill>
              </a:rPr>
              <a:t>10-06 起 llm.provider: claude_cli;Claude 回報的成本是等價值，實付為 0，每日成本上限只攔 OpenRouter 的實付費用</a:t>
            </a:r>
            <a:endParaRPr lang="zh-TW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E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數字的出處與口徑</a:t>
            </a:r>
            <a:endParaRPr lang="en-US" sz="3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566160"/>
                <a:gridCol w="512064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數字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出處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要知道的事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46 次實際執行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runs 表，requests_used &gt; 0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排除離線重播與測試；2026-08-22 ~ 10-25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2,623 筆 / 1,490 家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jobs 表 count、distinct cust_no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不重複職缺；其中 493 筆有完整 JD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4.7%(70 / 1,481)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runs 表，09-23 之後 24 次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全期含改版前是 210 / 2,688 ≈ 7.8%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約 4 分鐘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runs 的 started_at → finished_at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中位數 243 秒；多半是刻意的節流等待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每天約 1 小時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我自己的估計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人工基準，不是量測值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±8 分雜訊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Gemini 時期 replay 兩次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整批最好那則 80 vs 88；跟 Claude 的量法不同，不做數字對比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US$1.28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runs.llm_cost_usd 加總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粗篩 + 深評的 OpenRouter 實付；命中率另計（hitrate.db 留存約 US$1.12）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E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k and Signal">
  <a:themeElements>
    <a:clrScheme name="Ink and Signal">
      <a:dk1>
        <a:srgbClr val="14212B"/>
      </a:dk1>
      <a:lt1>
        <a:srgbClr val="FFFFFF"/>
      </a:lt1>
      <a:dk2>
        <a:srgbClr val="1F3A4A"/>
      </a:dk2>
      <a:lt2>
        <a:srgbClr val="EEF3F4"/>
      </a:lt2>
      <a:accent1>
        <a:srgbClr val="1E7F7A"/>
      </a:accent1>
      <a:accent2>
        <a:srgbClr val="E89B2D"/>
      </a:accent2>
      <a:accent3>
        <a:srgbClr val="C8473F"/>
      </a:accent3>
      <a:accent4>
        <a:srgbClr val="6C8EA0"/>
      </a:accent4>
      <a:accent5>
        <a:srgbClr val="CFE6E3"/>
      </a:accent5>
      <a:accent6>
        <a:srgbClr val="3D5A6C"/>
      </a:accent6>
      <a:hlink>
        <a:srgbClr val="1E7F7A"/>
      </a:hlink>
      <a:folHlink>
        <a:srgbClr val="6C8EA0"/>
      </a:folHlink>
    </a:clrScheme>
    <a:fontScheme name="Ink and Signal">
      <a:majorFont>
        <a:latin typeface="Microsoft JhengHei"/>
        <a:ea typeface="Microsoft JhengHei"/>
        <a:cs typeface=""/>
        <a:font script="Jpan" typeface="游ゴシック Light"/>
        <a:font script="Hang" typeface="맑은 고딕"/>
        <a:font script="Hans" typeface="等线 Light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Microsoft JhengHei"/>
        <a:cs typeface=""/>
        <a:font script="Jpan" typeface="游ゴシック"/>
        <a:font script="Hang" typeface="맑은 고딕"/>
        <a:font script="Hans" typeface="等线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104 職缺日報:自動化求職資料管線</dc:title>
  <dc:subject>PptxGenJS Presentation</dc:subject>
  <dc:creator>林芳義 Fang-Yi Lin</dc:creator>
  <cp:lastModifiedBy>林芳義 Fang-Yi Lin</cp:lastModifiedBy>
  <cp:revision>1</cp:revision>
  <dcterms:created xsi:type="dcterms:W3CDTF">2026-10-25T12:18:41Z</dcterms:created>
  <dcterms:modified xsi:type="dcterms:W3CDTF">2026-10-25T12:18:41Z</dcterms:modified>
</cp:coreProperties>
</file>